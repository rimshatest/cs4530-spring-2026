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85" r:id="rId2"/>
    <p:sldId id="630" r:id="rId3"/>
    <p:sldId id="680" r:id="rId4"/>
    <p:sldId id="579" r:id="rId5"/>
    <p:sldId id="653" r:id="rId6"/>
    <p:sldId id="677" r:id="rId7"/>
    <p:sldId id="583" r:id="rId8"/>
    <p:sldId id="679" r:id="rId9"/>
    <p:sldId id="666" r:id="rId10"/>
    <p:sldId id="668" r:id="rId11"/>
    <p:sldId id="669" r:id="rId12"/>
    <p:sldId id="670" r:id="rId13"/>
    <p:sldId id="665" r:id="rId14"/>
    <p:sldId id="672" r:id="rId15"/>
    <p:sldId id="674" r:id="rId16"/>
    <p:sldId id="675" r:id="rId17"/>
    <p:sldId id="681" r:id="rId18"/>
    <p:sldId id="676" r:id="rId19"/>
  </p:sldIdLst>
  <p:sldSz cx="12192000" cy="6858000"/>
  <p:notesSz cx="6858000" cy="9144000"/>
  <p:embeddedFontLst>
    <p:embeddedFont>
      <p:font typeface="Consolas" panose="020B0609020204030204" pitchFamily="49" charset="0"/>
      <p:regular r:id="rId21"/>
      <p:bold r:id="rId22"/>
      <p:italic r:id="rId23"/>
      <p:boldItalic r:id="rId24"/>
    </p:embeddedFont>
    <p:embeddedFont>
      <p:font typeface="Verdana" panose="020B060403050404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30"/>
            <p14:sldId id="680"/>
            <p14:sldId id="579"/>
            <p14:sldId id="653"/>
            <p14:sldId id="677"/>
            <p14:sldId id="583"/>
            <p14:sldId id="679"/>
            <p14:sldId id="666"/>
            <p14:sldId id="668"/>
            <p14:sldId id="669"/>
            <p14:sldId id="670"/>
            <p14:sldId id="665"/>
            <p14:sldId id="672"/>
            <p14:sldId id="674"/>
            <p14:sldId id="675"/>
            <p14:sldId id="681"/>
            <p14:sldId id="676"/>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8110" autoAdjust="0"/>
    <p:restoredTop sz="65686" autoAdjust="0"/>
  </p:normalViewPr>
  <p:slideViewPr>
    <p:cSldViewPr snapToGrid="0">
      <p:cViewPr varScale="1">
        <p:scale>
          <a:sx n="67" d="100"/>
          <a:sy n="67" d="100"/>
        </p:scale>
        <p:origin x="688"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key question of this lecture is: when have I written enough tests?</a:t>
            </a:r>
          </a:p>
          <a:p>
            <a:endParaRPr lang="en-US" dirty="0"/>
          </a:p>
          <a:p>
            <a:r>
              <a:rPr lang="en-US" dirty="0"/>
              <a:t>We’re going to answer this question in three different ways</a:t>
            </a:r>
          </a:p>
        </p:txBody>
      </p:sp>
    </p:spTree>
    <p:extLst>
      <p:ext uri="{BB962C8B-B14F-4D97-AF65-F5344CB8AC3E}">
        <p14:creationId xmlns:p14="http://schemas.microsoft.com/office/powerpoint/2010/main" val="2435961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motivates some more discussion of TypeScript.</a:t>
            </a:r>
          </a:p>
          <a:p>
            <a:endParaRPr lang="en-US" dirty="0"/>
          </a:p>
          <a:p>
            <a:r>
              <a:rPr lang="en-US" dirty="0"/>
              <a:t>The second answer is based on code coverage, a very common metric of test adequacy in modern software engineering.</a:t>
            </a:r>
          </a:p>
          <a:p>
            <a:endParaRPr lang="en-US" dirty="0"/>
          </a:p>
          <a:p>
            <a:r>
              <a:rPr lang="en-US" dirty="0"/>
              <a:t>The third answer is probably the most compelling: we’ve written enough tests when the tests will catch bugs!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5021-3CA2-6D6D-0AF1-7FEE237718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8E98A6-CC49-7C9B-6554-082FEC5FD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2B779-AA7F-56AE-126B-D02E9917C299}"/>
              </a:ext>
            </a:extLst>
          </p:cNvPr>
          <p:cNvSpPr>
            <a:spLocks noGrp="1"/>
          </p:cNvSpPr>
          <p:nvPr>
            <p:ph type="body" idx="1"/>
          </p:nvPr>
        </p:nvSpPr>
        <p:spPr/>
        <p:txBody>
          <a:bodyPr/>
          <a:lstStyle/>
          <a:p>
            <a:r>
              <a:rPr lang="en-US" dirty="0"/>
              <a:t>This is something we’ll return to later, but the answer to “which inputs should we test” is that we don’t need to test this function with -3 or null.</a:t>
            </a:r>
          </a:p>
          <a:p>
            <a:endParaRPr lang="en-US" dirty="0"/>
          </a:p>
          <a:p>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p:txBody>
      </p:sp>
      <p:sp>
        <p:nvSpPr>
          <p:cNvPr id="4" name="Slide Number Placeholder 3">
            <a:extLst>
              <a:ext uri="{FF2B5EF4-FFF2-40B4-BE49-F238E27FC236}">
                <a16:creationId xmlns:a16="http://schemas.microsoft.com/office/drawing/2014/main" id="{E5DB4872-4723-D3D0-0A11-CB70DA990E54}"/>
              </a:ext>
            </a:extLst>
          </p:cNvPr>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85188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brings us to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Here’s a more real version of the initial example, a piece of code from the project codebase. Both the comments and the types are telling us about the function’s preconditions, which help set  the expectations for testing the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t>
            </a:r>
            <a:r>
              <a:rPr lang="en-US" dirty="0" err="1"/>
              <a:t>chatId</a:t>
            </a:r>
            <a:r>
              <a:rPr lang="en-US" dirty="0"/>
              <a:t>` argument is described as an “ostensible chat ID” — it’s something that </a:t>
            </a:r>
            <a:r>
              <a:rPr lang="en-US" i="1" dirty="0"/>
              <a:t>claims</a:t>
            </a:r>
            <a:r>
              <a:rPr lang="en-US" dirty="0"/>
              <a:t> to be a </a:t>
            </a:r>
            <a:r>
              <a:rPr lang="en-US" dirty="0" err="1"/>
              <a:t>chatId</a:t>
            </a:r>
            <a:r>
              <a:rPr lang="en-US" dirty="0"/>
              <a:t>, but it might not actually represent a real chat ID. We’d definitely want to test this function with a valid chat ID and an invalid chat ID.</a:t>
            </a:r>
          </a:p>
          <a:p>
            <a:endParaRPr lang="en-US" dirty="0"/>
          </a:p>
          <a:p>
            <a:r>
              <a:rPr lang="en-US" dirty="0"/>
              <a:t>TypeScript won’t consistently enforce that we’ll only pass a message ID that’s a string, and not a number or an object or something else — and TypeScript definitely won’t enforce that you only call the function with valid message IDs that correspond to actual messages. But the contracts on this function — but if we’re trusting that this function will be called in ways that respect the function’s contracts, we don’t need to test it with a message ID 4, or with a random string message ID that doesn’t correspond to a message.</a:t>
            </a:r>
          </a:p>
          <a:p>
            <a:endParaRPr lang="en-US" dirty="0"/>
          </a:p>
          <a:p>
            <a:r>
              <a:rPr lang="en-US" dirty="0"/>
              <a:t>But maybe we don’t trust ourselves and the evolution of our code over time, so we want to write the test anyway! There’s not a single right answer. What are the tradeoffs for writing tests that violate the stated preconditions? (One answer: if you write tests that violate the preconditions, that may push you to check for the precondition violation in code. Which means your code is now more slower and more complicated than it had to be!)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r>
              <a:rPr lang="en-US" i="0" dirty="0"/>
              <a:t> </a:t>
            </a:r>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B551-2ACB-87DF-621E-8CF85F22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843C4-E597-FB7B-4107-41A7F5EE8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35BE9-25C8-D5D8-AEDF-FF73546206B2}"/>
              </a:ext>
            </a:extLst>
          </p:cNvPr>
          <p:cNvSpPr>
            <a:spLocks noGrp="1"/>
          </p:cNvSpPr>
          <p:nvPr>
            <p:ph type="body" idx="1"/>
          </p:nvPr>
        </p:nvSpPr>
        <p:spPr/>
        <p:txBody>
          <a:bodyPr/>
          <a:lstStyle/>
          <a:p>
            <a:r>
              <a:rPr lang="en-US" dirty="0"/>
              <a:t>This was just about shortest code I could come up with to use straightforwardly use TypeScript to reliably take an unknown piece of data and get record with a string username and a string password. It’s not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TypeScript makes us do all the work ourselves if we want to check that a value actually matches the structure that its type suggests. This is difficult and error-prone in practice.</a:t>
            </a:r>
          </a:p>
          <a:p>
            <a:endParaRPr lang="en-US" dirty="0"/>
          </a:p>
        </p:txBody>
      </p:sp>
      <p:sp>
        <p:nvSpPr>
          <p:cNvPr id="4" name="Slide Number Placeholder 3">
            <a:extLst>
              <a:ext uri="{FF2B5EF4-FFF2-40B4-BE49-F238E27FC236}">
                <a16:creationId xmlns:a16="http://schemas.microsoft.com/office/drawing/2014/main" id="{2FEAF677-102E-2F95-DC9E-3BC9DE0972A6}"/>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9602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EF256-FC42-E509-0AE2-20ED6E83E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A4400-19B1-61D6-AC65-F55617D33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9C0F3-BA1B-3144-59CA-48D65C56BABC}"/>
              </a:ext>
            </a:extLst>
          </p:cNvPr>
          <p:cNvSpPr>
            <a:spLocks noGrp="1"/>
          </p:cNvSpPr>
          <p:nvPr>
            <p:ph type="body" idx="1"/>
          </p:nvPr>
        </p:nvSpPr>
        <p:spPr/>
        <p:txBody>
          <a:bodyPr/>
          <a:lstStyle/>
          <a:p>
            <a:r>
              <a:rPr lang="en-US" dirty="0"/>
              <a:t>Zod is a library that makes our job easier — we can create Zod representations of the TypeScript types,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B5E2D8E2-9F92-7BAD-8C7B-7855949EF681}"/>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5184569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(click)</a:t>
            </a:r>
          </a:p>
          <a:p>
            <a:r>
              <a:rPr lang="en-US" dirty="0"/>
              <a:t>The third line (where the first arrow is pointing) covers an enormous amount of validation — it ensures that our web server will only respond to specific requests that send JSON data (we’ll be using JSON data a lot in the class, there’s an article about it in the </a:t>
            </a:r>
            <a:r>
              <a:rPr lang="en-US" dirty="0" err="1"/>
              <a:t>resoures</a:t>
            </a:r>
            <a:r>
              <a:rPr lang="en-US" dirty="0"/>
              <a:t>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try to invoke the </a:t>
            </a:r>
            <a:r>
              <a:rPr lang="en-US" dirty="0" err="1"/>
              <a:t>toUpperCase</a:t>
            </a:r>
            <a:r>
              <a:rPr lang="en-US" dirty="0"/>
              <a:t> method of the numeric value 4, but JavaScript numbers don’t have </a:t>
            </a:r>
            <a:r>
              <a:rPr lang="en-US" dirty="0" err="1"/>
              <a:t>toUpperCase</a:t>
            </a:r>
            <a:r>
              <a:rPr lang="en-US" dirty="0"/>
              <a:t> methods — only strings do!</a:t>
            </a:r>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374E-9BDA-A981-EAF7-818A369DCC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73DF6-DC1E-6914-C403-E775206BDA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BCCC5A-2DF7-ED6C-9A27-733DA812AB05}"/>
              </a:ext>
            </a:extLst>
          </p:cNvPr>
          <p:cNvSpPr>
            <a:spLocks noGrp="1"/>
          </p:cNvSpPr>
          <p:nvPr>
            <p:ph type="body" idx="1"/>
          </p:nvPr>
        </p:nvSpPr>
        <p:spPr/>
        <p:txBody>
          <a:bodyPr/>
          <a:lstStyle/>
          <a:p>
            <a:r>
              <a:rPr lang="en-US" dirty="0"/>
              <a:t>Coming back around to the initial example, if we had to write </a:t>
            </a:r>
            <a:r>
              <a:rPr lang="en-US" dirty="0" err="1"/>
              <a:t>helloNTimes</a:t>
            </a:r>
            <a:r>
              <a:rPr lang="en-US" dirty="0"/>
              <a:t> to take untrusted inputs with the unknown type, we could use Zod to check that the input is not only a JavaScript number, but that it’s an integer greater than are equal to zero. This changes the function’s contract: both the TypeScript and the </a:t>
            </a:r>
            <a:r>
              <a:rPr lang="en-US" dirty="0" err="1"/>
              <a:t>JavaDoc</a:t>
            </a:r>
            <a:r>
              <a:rPr lang="en-US" dirty="0"/>
              <a:t> allow weird inputs to the function, with the specification that this will cause the function to throw </a:t>
            </a:r>
            <a:r>
              <a:rPr lang="en-US"/>
              <a:t>an error.</a:t>
            </a:r>
            <a:endParaRPr lang="en-US" dirty="0"/>
          </a:p>
        </p:txBody>
      </p:sp>
      <p:sp>
        <p:nvSpPr>
          <p:cNvPr id="4" name="Slide Number Placeholder 3">
            <a:extLst>
              <a:ext uri="{FF2B5EF4-FFF2-40B4-BE49-F238E27FC236}">
                <a16:creationId xmlns:a16="http://schemas.microsoft.com/office/drawing/2014/main" id="{A715753A-6BA7-C4D5-11F0-E4344BF2732C}"/>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12981467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597398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1/4/26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1/4/26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1/4/26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1/4/26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1/4/26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1/4/26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1/4/26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1/4/26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1/4/26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1/4/26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1/4/26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1/4/26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1/4/26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dirty="0"/>
              <a:t>When I’ve described the valid inputs</a:t>
            </a:r>
          </a:p>
          <a:p>
            <a:r>
              <a:rPr lang="en-US" dirty="0"/>
              <a:t>When I’ve tested all the code</a:t>
            </a:r>
          </a:p>
          <a:p>
            <a:r>
              <a:rPr lang="en-US"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563959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t> vs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r>
              <a:rPr lang="en-US" dirty="0"/>
              <a:t> types in TypeScript</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744069" y="4040177"/>
            <a:ext cx="11354146" cy="2817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Prints "hello" repeatedly</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@param</a:t>
            </a: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dirty="0">
                <a:solidFill>
                  <a:srgbClr val="008000"/>
                </a:solidFill>
                <a:latin typeface="Consolas" panose="020B0609020204030204" pitchFamily="49" charset="0"/>
                <a:cs typeface="Consolas" panose="020B0609020204030204" pitchFamily="49" charset="0"/>
              </a:rPr>
              <a:t> *   </a:t>
            </a:r>
            <a:r>
              <a:rPr lang="en-US" b="0" dirty="0">
                <a:solidFill>
                  <a:srgbClr val="008000"/>
                </a:solidFill>
                <a:effectLst/>
                <a:latin typeface="Consolas" panose="020B0609020204030204" pitchFamily="49" charset="0"/>
                <a:cs typeface="Consolas" panose="020B0609020204030204" pitchFamily="49" charset="0"/>
              </a:rPr>
              <a:t>must be an integer &gt;= 0</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function</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helloNTimes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  for</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0</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console</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log</a:t>
            </a:r>
            <a:r>
              <a:rPr lang="en-US" b="0" dirty="0">
                <a:solidFill>
                  <a:srgbClr val="3B3B3B"/>
                </a:solidFill>
                <a:effectLst/>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'hello’</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4475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B0ED1-8A3F-5F48-0DE9-A50048F8D4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F50B1-AD48-87E8-00D9-01D2F21FB0A3}"/>
              </a:ext>
            </a:extLst>
          </p:cNvPr>
          <p:cNvSpPr>
            <a:spLocks noGrp="1"/>
          </p:cNvSpPr>
          <p:nvPr>
            <p:ph type="title"/>
          </p:nvPr>
        </p:nvSpPr>
        <p:spPr>
          <a:xfrm>
            <a:off x="838200" y="18255"/>
            <a:ext cx="10515600" cy="1325563"/>
          </a:xfrm>
        </p:spPr>
        <p:txBody>
          <a:bodyPr>
            <a:normAutofit/>
          </a:bodyPr>
          <a:lstStyle/>
          <a:p>
            <a:r>
              <a:rPr lang="en-US" dirty="0"/>
              <a:t>For Unit Testing, Tests Inputs Should Respect a Function’s Contracts</a:t>
            </a:r>
          </a:p>
        </p:txBody>
      </p:sp>
      <p:sp>
        <p:nvSpPr>
          <p:cNvPr id="3" name="Content Placeholder 2">
            <a:extLst>
              <a:ext uri="{FF2B5EF4-FFF2-40B4-BE49-F238E27FC236}">
                <a16:creationId xmlns:a16="http://schemas.microsoft.com/office/drawing/2014/main" id="{E78D7B6A-C82F-32C2-BC2C-9AEC1DC4F893}"/>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a:t>
            </a:r>
            <a:r>
              <a:rPr lang="en-US" dirty="0"/>
              <a:t> test how parts of a program work together: that’s where we ensure </a:t>
            </a:r>
            <a:r>
              <a:rPr lang="en-US" i="1" dirty="0"/>
              <a:t>other </a:t>
            </a:r>
            <a:r>
              <a:rPr lang="en-US" dirty="0"/>
              <a:t>functions of the respect our function’s contracts.</a:t>
            </a:r>
          </a:p>
        </p:txBody>
      </p:sp>
      <p:sp>
        <p:nvSpPr>
          <p:cNvPr id="4" name="Slide Number Placeholder 3">
            <a:extLst>
              <a:ext uri="{FF2B5EF4-FFF2-40B4-BE49-F238E27FC236}">
                <a16:creationId xmlns:a16="http://schemas.microsoft.com/office/drawing/2014/main" id="{613728FD-54AD-0E30-7DA2-44DC837507E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5" name="TextBox 4">
            <a:extLst>
              <a:ext uri="{FF2B5EF4-FFF2-40B4-BE49-F238E27FC236}">
                <a16:creationId xmlns:a16="http://schemas.microsoft.com/office/drawing/2014/main" id="{BA1A8473-3649-56E6-6F85-4BD163021EB6}"/>
              </a:ext>
            </a:extLst>
          </p:cNvPr>
          <p:cNvSpPr txBox="1"/>
          <p:nvPr/>
        </p:nvSpPr>
        <p:spPr>
          <a:xfrm>
            <a:off x="744069" y="4040177"/>
            <a:ext cx="11354146" cy="2817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Prints "hello" repeatedly</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@param</a:t>
            </a: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dirty="0">
                <a:solidFill>
                  <a:srgbClr val="008000"/>
                </a:solidFill>
                <a:latin typeface="Consolas" panose="020B0609020204030204" pitchFamily="49" charset="0"/>
                <a:cs typeface="Consolas" panose="020B0609020204030204" pitchFamily="49" charset="0"/>
              </a:rPr>
              <a:t> *   </a:t>
            </a:r>
            <a:r>
              <a:rPr lang="en-US" b="0" dirty="0">
                <a:solidFill>
                  <a:srgbClr val="008000"/>
                </a:solidFill>
                <a:effectLst/>
                <a:latin typeface="Consolas" panose="020B0609020204030204" pitchFamily="49" charset="0"/>
                <a:cs typeface="Consolas" panose="020B0609020204030204" pitchFamily="49" charset="0"/>
              </a:rPr>
              <a:t>must be an integer &gt;= 0</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function</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helloNTimes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  for</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0</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console</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log</a:t>
            </a:r>
            <a:r>
              <a:rPr lang="en-US" b="0" dirty="0">
                <a:solidFill>
                  <a:srgbClr val="3B3B3B"/>
                </a:solidFill>
                <a:effectLst/>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'hello’</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205123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but not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a:t>
            </a:r>
          </a:p>
          <a:p>
            <a:r>
              <a:rPr lang="en-US" dirty="0"/>
              <a:t>That’s not true in TypeScript, and that can be surprising.</a:t>
            </a:r>
          </a:p>
        </p:txBody>
      </p:sp>
      <p:sp>
        <p:nvSpPr>
          <p:cNvPr id="5" name="TextBox 4">
            <a:extLst>
              <a:ext uri="{FF2B5EF4-FFF2-40B4-BE49-F238E27FC236}">
                <a16:creationId xmlns:a16="http://schemas.microsoft.com/office/drawing/2014/main" id="{5CD808FC-0999-473D-F77E-225E4F7E37DB}"/>
              </a:ext>
            </a:extLst>
          </p:cNvPr>
          <p:cNvSpPr txBox="1"/>
          <p:nvPr/>
        </p:nvSpPr>
        <p:spPr>
          <a:xfrm>
            <a:off x="744069" y="4040177"/>
            <a:ext cx="11354146" cy="2817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Prints "hello" repeatedly</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@param</a:t>
            </a: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dirty="0">
                <a:solidFill>
                  <a:srgbClr val="008000"/>
                </a:solidFill>
                <a:latin typeface="Consolas" panose="020B0609020204030204" pitchFamily="49" charset="0"/>
                <a:cs typeface="Consolas" panose="020B0609020204030204" pitchFamily="49" charset="0"/>
              </a:rPr>
              <a:t> *   </a:t>
            </a:r>
            <a:r>
              <a:rPr lang="en-US" b="0" dirty="0">
                <a:solidFill>
                  <a:srgbClr val="008000"/>
                </a:solidFill>
                <a:effectLst/>
                <a:latin typeface="Consolas" panose="020B0609020204030204" pitchFamily="49" charset="0"/>
                <a:cs typeface="Consolas" panose="020B0609020204030204" pitchFamily="49" charset="0"/>
              </a:rPr>
              <a:t>must be an integer &gt;= 0</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function</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helloNTimes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  for</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0</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console</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log</a:t>
            </a:r>
            <a:r>
              <a:rPr lang="en-US" b="0" dirty="0">
                <a:solidFill>
                  <a:srgbClr val="3B3B3B"/>
                </a:solidFill>
                <a:effectLst/>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'hello’</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but not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a:t>
            </a:r>
          </a:p>
          <a:p>
            <a:r>
              <a:rPr lang="en-US" dirty="0"/>
              <a:t>That’s not true in TypeScript, and that can be surprising.</a:t>
            </a:r>
          </a:p>
          <a:p>
            <a:r>
              <a:rPr lang="en-US" dirty="0"/>
              <a:t>TypeScript types are, at the end of the day, </a:t>
            </a:r>
            <a:br>
              <a:rPr lang="en-US" dirty="0"/>
            </a:br>
            <a:r>
              <a:rPr lang="en-US" dirty="0"/>
              <a:t>no better than preconditions mentioned in comments.</a:t>
            </a:r>
            <a:br>
              <a:rPr lang="en-US" sz="1000" dirty="0"/>
            </a:br>
            <a:endParaRPr lang="en-US" sz="1000" dirty="0"/>
          </a:p>
          <a:p>
            <a:pPr marL="457200" lvl="1" indent="0">
              <a:buNone/>
            </a:pPr>
            <a:r>
              <a:rPr lang="en-US" sz="1600" b="0" dirty="0" err="1">
                <a:solidFill>
                  <a:srgbClr val="795E26"/>
                </a:solidFill>
                <a:effectLst/>
                <a:latin typeface="Consolas" panose="020B0609020204030204" pitchFamily="49" charset="0"/>
                <a:cs typeface="Consolas" panose="020B0609020204030204" pitchFamily="49" charset="0"/>
              </a:rPr>
              <a:t>helloNTimes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lol:</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'owned '</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as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267F99"/>
                </a:solidFill>
                <a:effectLst/>
                <a:latin typeface="Consolas" panose="020B0609020204030204" pitchFamily="49" charset="0"/>
                <a:cs typeface="Consolas" panose="020B0609020204030204" pitchFamily="49" charset="0"/>
              </a:rPr>
              <a:t>unknown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as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267F99"/>
                </a:solidFill>
                <a:effectLst/>
                <a:latin typeface="Consolas" panose="020B0609020204030204" pitchFamily="49" charset="0"/>
                <a:cs typeface="Consolas" panose="020B0609020204030204" pitchFamily="49" charset="0"/>
              </a:rPr>
              <a:t>number</a:t>
            </a:r>
            <a:r>
              <a:rPr lang="en-US" sz="16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They do seem to make it less likely you’ll screw up </a:t>
            </a:r>
            <a:r>
              <a:rPr lang="en-US" i="1" dirty="0"/>
              <a:t>accidentally…</a:t>
            </a:r>
            <a:r>
              <a:rPr lang="en-US" dirty="0"/>
              <a:t>, and </a:t>
            </a:r>
            <a:r>
              <a:rPr lang="en-US" dirty="0" err="1"/>
              <a:t>ESLint</a:t>
            </a:r>
            <a:r>
              <a:rPr lang="en-US" dirty="0"/>
              <a:t> + TypeScript work together to do even more</a:t>
            </a:r>
          </a:p>
        </p:txBody>
      </p:sp>
    </p:spTree>
    <p:extLst>
      <p:ext uri="{BB962C8B-B14F-4D97-AF65-F5344CB8AC3E}">
        <p14:creationId xmlns:p14="http://schemas.microsoft.com/office/powerpoint/2010/main" val="1328486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addMessageToChat</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UserWithId</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ChatInfo</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9</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Untrusted Inputs Are Unpredictable</a:t>
            </a: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p:txBody>
          <a:bodyPr>
            <a:normAutofit/>
          </a:bodyPr>
          <a:lstStyle/>
          <a:p>
            <a:pPr marL="0" indent="0">
              <a:buNone/>
            </a:pPr>
            <a:r>
              <a:rPr lang="en-US" dirty="0"/>
              <a:t>Any input given to a web app</a:t>
            </a:r>
            <a:br>
              <a:rPr lang="en-US" dirty="0"/>
            </a:br>
            <a:r>
              <a:rPr lang="en-US" dirty="0"/>
              <a:t>can also be given by other</a:t>
            </a:r>
            <a:br>
              <a:rPr lang="en-US" dirty="0"/>
            </a:br>
            <a:r>
              <a:rPr lang="en-US" dirty="0"/>
              <a:t>means…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10</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623477" y="253350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63021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curl https://</a:t>
            </a:r>
            <a:r>
              <a:rPr lang="en-US"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strategy.town</a:t>
            </a:r>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api</a:t>
            </a:r>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/user/signup -H 'Content-Type: application/</a:t>
            </a:r>
            <a:r>
              <a:rPr lang="en-US"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--data '{ "username": "</a:t>
            </a:r>
            <a:r>
              <a:rPr lang="en-US"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trugamer</a:t>
            </a:r>
            <a:r>
              <a:rPr lang="en-US"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753600" y="1505653"/>
            <a:ext cx="6083723" cy="4124557"/>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lstStyle/>
          <a:p>
            <a:r>
              <a:rPr lang="en-US" dirty="0"/>
              <a:t>Untrusted Inputs Should Be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11</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lookAtMe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latin typeface="Consolas" panose="020B0609020204030204" pitchFamily="49" charset="0"/>
                <a:ea typeface="Menlo" panose="020B0609030804020204" pitchFamily="49" charset="0"/>
                <a:cs typeface="Consolas" panose="020B0609020204030204" pitchFamily="49" charset="0"/>
              </a:rPr>
              <a:t>console.log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input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100" dirty="0">
                <a:latin typeface="Consolas" panose="020B0609020204030204" pitchFamily="49" charset="0"/>
                <a:ea typeface="Menlo" panose="020B0609030804020204" pitchFamily="49" charset="0"/>
                <a:cs typeface="Consolas" panose="020B0609020204030204" pitchFamily="49" charset="0"/>
              </a:rPr>
            </a:br>
            <a:endParaRPr lang="en-US" sz="2100" dirty="0">
              <a:latin typeface="Consolas" panose="020B0609020204030204" pitchFamily="49" charset="0"/>
              <a:ea typeface="Menlo" panose="020B0609030804020204" pitchFamily="49" charset="0"/>
              <a:cs typeface="Consolas" panose="020B060902020403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8F090-0895-49D9-2431-9ABA97330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84536-288B-181C-8012-F26F25F6CB2F}"/>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endParaRPr lang="en-US" dirty="0"/>
          </a:p>
        </p:txBody>
      </p:sp>
      <p:sp>
        <p:nvSpPr>
          <p:cNvPr id="5" name="Content Placeholder 4">
            <a:extLst>
              <a:ext uri="{FF2B5EF4-FFF2-40B4-BE49-F238E27FC236}">
                <a16:creationId xmlns:a16="http://schemas.microsoft.com/office/drawing/2014/main" id="{49E07EEE-FB1E-20BA-06E3-3771093ABBDF}"/>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8E5AF579-B008-6D6E-98BF-0D376A02FC39}"/>
              </a:ext>
            </a:extLst>
          </p:cNvPr>
          <p:cNvSpPr>
            <a:spLocks noGrp="1"/>
          </p:cNvSpPr>
          <p:nvPr>
            <p:ph type="sldNum" sz="quarter" idx="12"/>
          </p:nvPr>
        </p:nvSpPr>
        <p:spPr/>
        <p:txBody>
          <a:bodyPr/>
          <a:lstStyle/>
          <a:p>
            <a:fld id="{20F37917-FD3A-4669-9018-DA04BCDD3D75}" type="slidenum">
              <a:rPr lang="en-US" smtClean="0"/>
              <a:pPr/>
              <a:t>12</a:t>
            </a:fld>
            <a:endParaRPr lang="en-US"/>
          </a:p>
        </p:txBody>
      </p:sp>
      <p:sp>
        <p:nvSpPr>
          <p:cNvPr id="6" name="TextBox 5">
            <a:extLst>
              <a:ext uri="{FF2B5EF4-FFF2-40B4-BE49-F238E27FC236}">
                <a16:creationId xmlns:a16="http://schemas.microsoft.com/office/drawing/2014/main" id="{A2E5CDC5-E826-1286-F372-5AA31B5541BB}"/>
              </a:ext>
            </a:extLst>
          </p:cNvPr>
          <p:cNvSpPr txBox="1"/>
          <p:nvPr/>
        </p:nvSpPr>
        <p:spPr>
          <a:xfrm>
            <a:off x="744069" y="2501474"/>
            <a:ext cx="11354146" cy="47473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solidFill>
                  <a:srgbClr val="0000FF"/>
                </a:solidFill>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 username: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password: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if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'object'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x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null</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'password'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44ABBD34-51F2-BCB0-3D1B-EBCE2F58A95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2F5209A-94C8-F0EB-DC68-4788D4ECEAF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778937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6231A-34C9-209A-BC1A-53AE6CF5D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54A8D1-432E-E65D-05C7-871F056B1146}"/>
              </a:ext>
            </a:extLst>
          </p:cNvPr>
          <p:cNvSpPr>
            <a:spLocks noGrp="1"/>
          </p:cNvSpPr>
          <p:nvPr>
            <p:ph type="title"/>
          </p:nvPr>
        </p:nvSpPr>
        <p:spPr>
          <a:xfrm>
            <a:off x="838200" y="18255"/>
            <a:ext cx="10515600" cy="1325563"/>
          </a:xfrm>
        </p:spPr>
        <p:txBody>
          <a:bodyPr/>
          <a:lstStyle/>
          <a:p>
            <a:r>
              <a:rPr lang="en-US" dirty="0"/>
              <a:t>Libraries Make Checking Types Easier</a:t>
            </a:r>
          </a:p>
        </p:txBody>
      </p:sp>
      <p:sp>
        <p:nvSpPr>
          <p:cNvPr id="4" name="Slide Number Placeholder 3">
            <a:extLst>
              <a:ext uri="{FF2B5EF4-FFF2-40B4-BE49-F238E27FC236}">
                <a16:creationId xmlns:a16="http://schemas.microsoft.com/office/drawing/2014/main" id="{9394747E-E436-62C9-8F94-58A9BB24680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5" name="Content Placeholder 4">
            <a:extLst>
              <a:ext uri="{FF2B5EF4-FFF2-40B4-BE49-F238E27FC236}">
                <a16:creationId xmlns:a16="http://schemas.microsoft.com/office/drawing/2014/main" id="{58CDFBA0-AD38-CEBC-6D8D-0FD6CB79A672}"/>
              </a:ext>
            </a:extLst>
          </p:cNvPr>
          <p:cNvSpPr>
            <a:spLocks noGrp="1"/>
          </p:cNvSpPr>
          <p:nvPr>
            <p:ph idx="1"/>
          </p:nvPr>
        </p:nvSpPr>
        <p:spPr>
          <a:xfrm>
            <a:off x="838200" y="1500160"/>
            <a:ext cx="7887346" cy="1001314"/>
          </a:xfrm>
        </p:spPr>
        <p:txBody>
          <a:bodyPr>
            <a:normAutofit/>
          </a:bodyPr>
          <a:lstStyle/>
          <a:p>
            <a:pPr marL="0" indent="0">
              <a:buNone/>
            </a:pPr>
            <a:r>
              <a:rPr lang="en-US" i="1" dirty="0"/>
              <a:t>Zod</a:t>
            </a:r>
            <a:r>
              <a:rPr lang="en-US" dirty="0"/>
              <a:t> is a library that makes testing the structure of inputs less tedious and error-prone.</a:t>
            </a:r>
          </a:p>
        </p:txBody>
      </p:sp>
      <p:sp>
        <p:nvSpPr>
          <p:cNvPr id="6" name="TextBox 5">
            <a:extLst>
              <a:ext uri="{FF2B5EF4-FFF2-40B4-BE49-F238E27FC236}">
                <a16:creationId xmlns:a16="http://schemas.microsoft.com/office/drawing/2014/main" id="{A14025D7-3318-3D14-3892-FF116EEA0A8E}"/>
              </a:ext>
            </a:extLst>
          </p:cNvPr>
          <p:cNvSpPr txBox="1"/>
          <p:nvPr/>
        </p:nvSpPr>
        <p:spPr>
          <a:xfrm>
            <a:off x="744069" y="2755351"/>
            <a:ext cx="11354146" cy="41018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AF00DB"/>
                </a:solidFill>
                <a:latin typeface="Menlo" panose="020B0609030804020204" pitchFamily="49" charset="0"/>
              </a:rPr>
              <a:t>import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z } </a:t>
            </a:r>
            <a:r>
              <a:rPr lang="en-US" sz="2000" dirty="0">
                <a:solidFill>
                  <a:srgbClr val="AF00DB"/>
                </a:solidFill>
                <a:latin typeface="Menlo" panose="020B0609030804020204" pitchFamily="49" charset="0"/>
              </a:rPr>
              <a:t>from</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zod</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password: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infer</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&lt;</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&gt;;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false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4, password: null }))</a:t>
            </a: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true, data: { username: "", password: "" }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 password: "" })) </a:t>
            </a:r>
          </a:p>
          <a:p>
            <a:pPr>
              <a:lnSpc>
                <a:spcPct val="110000"/>
              </a:lnSpc>
            </a:pPr>
            <a:endParaRPr lang="en-US" sz="2000"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85AB0D8-371E-71DD-F09E-114D34A6C11D}"/>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94A18262-B510-B75A-5395-24208D918ECB}"/>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AutoShape 9">
            <a:extLst>
              <a:ext uri="{FF2B5EF4-FFF2-40B4-BE49-F238E27FC236}">
                <a16:creationId xmlns:a16="http://schemas.microsoft.com/office/drawing/2014/main" id="{874C090F-8ACA-361F-4622-1A018C2594C9}"/>
              </a:ext>
            </a:extLst>
          </p:cNvPr>
          <p:cNvSpPr>
            <a:spLocks/>
          </p:cNvSpPr>
          <p:nvPr/>
        </p:nvSpPr>
        <p:spPr bwMode="auto">
          <a:xfrm>
            <a:off x="5386431" y="4237471"/>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12" name="Straight Arrow Connector 11">
            <a:extLst>
              <a:ext uri="{FF2B5EF4-FFF2-40B4-BE49-F238E27FC236}">
                <a16:creationId xmlns:a16="http://schemas.microsoft.com/office/drawing/2014/main" id="{C8408240-44F8-94B2-97DF-165D3D8B00B6}"/>
              </a:ext>
            </a:extLst>
          </p:cNvPr>
          <p:cNvCxnSpPr>
            <a:cxnSpLocks/>
          </p:cNvCxnSpPr>
          <p:nvPr/>
        </p:nvCxnSpPr>
        <p:spPr>
          <a:xfrm flipH="1" flipV="1">
            <a:off x="2168013" y="4026310"/>
            <a:ext cx="3341811" cy="65468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9DC8529-A309-1F1E-40C3-9FAB71392CF7}"/>
              </a:ext>
            </a:extLst>
          </p:cNvPr>
          <p:cNvPicPr>
            <a:picLocks noChangeAspect="1"/>
          </p:cNvPicPr>
          <p:nvPr/>
        </p:nvPicPr>
        <p:blipFill>
          <a:blip r:embed="rId3"/>
          <a:stretch>
            <a:fillRect/>
          </a:stretch>
        </p:blipFill>
        <p:spPr>
          <a:xfrm>
            <a:off x="5594787" y="4397381"/>
            <a:ext cx="2197100" cy="965200"/>
          </a:xfrm>
          <a:prstGeom prst="rect">
            <a:avLst/>
          </a:prstGeom>
        </p:spPr>
      </p:pic>
    </p:spTree>
    <p:extLst>
      <p:ext uri="{BB962C8B-B14F-4D97-AF65-F5344CB8AC3E}">
        <p14:creationId xmlns:p14="http://schemas.microsoft.com/office/powerpoint/2010/main" val="4968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1800" dirty="0">
                <a:solidFill>
                  <a:srgbClr val="AF00DB"/>
                </a:solidFill>
                <a:latin typeface="Consolas" panose="020B0609020204030204" pitchFamily="49" charset="0"/>
                <a:cs typeface="Consolas" panose="020B0609020204030204" pitchFamily="49" charset="0"/>
              </a:rPr>
              <a:t>import</a:t>
            </a:r>
            <a:r>
              <a:rPr lang="en-US" sz="1800" dirty="0">
                <a:latin typeface="Consolas" panose="020B0609020204030204" pitchFamily="49" charset="0"/>
                <a:ea typeface="Menlo" panose="020B0609030804020204" pitchFamily="49" charset="0"/>
                <a:cs typeface="Consolas" panose="020B0609020204030204" pitchFamily="49" charset="0"/>
              </a:rPr>
              <a:t> express </a:t>
            </a:r>
            <a:r>
              <a:rPr lang="en-US" sz="1800" dirty="0">
                <a:solidFill>
                  <a:srgbClr val="AF00DB"/>
                </a:solidFill>
                <a:latin typeface="Consolas" panose="020B0609020204030204" pitchFamily="49" charset="0"/>
                <a:cs typeface="Consolas" panose="020B0609020204030204" pitchFamily="49" charset="0"/>
              </a:rPr>
              <a:t>from</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1800" dirty="0">
                <a:latin typeface="Consolas" panose="020B0609020204030204" pitchFamily="49" charset="0"/>
                <a:ea typeface="Menlo" panose="020B0609030804020204" pitchFamily="49" charset="0"/>
                <a:cs typeface="Consolas" panose="020B0609020204030204" pitchFamily="49" charset="0"/>
              </a:rPr>
              <a:t>());</a:t>
            </a:r>
            <a:br>
              <a:rPr lang="en-US" sz="1800" dirty="0">
                <a:latin typeface="Consolas" panose="020B0609020204030204" pitchFamily="49" charset="0"/>
                <a:ea typeface="Menlo" panose="020B0609030804020204" pitchFamily="49" charset="0"/>
                <a:cs typeface="Consolas" panose="020B0609020204030204" pitchFamily="49" charset="0"/>
              </a:rPr>
            </a:b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 {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br>
              <a:rPr lang="en-US" sz="1800" dirty="0">
                <a:latin typeface="Consolas" panose="020B0609020204030204" pitchFamily="49" charset="0"/>
                <a:ea typeface="Menlo" panose="020B0609030804020204" pitchFamily="49" charset="0"/>
                <a:cs typeface="Consolas" panose="020B0609020204030204" pitchFamily="49" charset="0"/>
              </a:rPr>
            </a:b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AF00DB"/>
                </a:solidFill>
                <a:latin typeface="Consolas" panose="020B0609020204030204" pitchFamily="49" charset="0"/>
                <a:cs typeface="Consolas" panose="020B0609020204030204" pitchFamily="49" charset="0"/>
              </a:rPr>
              <a:t>if</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error: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 </a:t>
            </a:r>
            <a:r>
              <a:rPr lang="en-US" sz="1800" dirty="0">
                <a:solidFill>
                  <a:srgbClr val="AF00DB"/>
                </a:solidFill>
                <a:latin typeface="Consolas" panose="020B0609020204030204" pitchFamily="49" charset="0"/>
                <a:cs typeface="Consolas" panose="020B0609020204030204" pitchFamily="49" charset="0"/>
              </a:rPr>
              <a:t>else</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1800" dirty="0">
                <a:latin typeface="Consolas" panose="020B0609020204030204" pitchFamily="49" charset="0"/>
                <a:ea typeface="Menlo" panose="020B0609030804020204" pitchFamily="49" charset="0"/>
                <a:cs typeface="Consolas" panose="020B0609020204030204" pitchFamily="49" charset="0"/>
              </a:rPr>
              <a:t>, () =&gt;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1800" dirty="0">
                <a:latin typeface="Consolas" panose="020B0609020204030204" pitchFamily="49" charset="0"/>
                <a:ea typeface="Menlo" panose="020B0609030804020204" pitchFamily="49" charset="0"/>
                <a:cs typeface="Consolas" panose="020B0609020204030204" pitchFamily="49" charset="0"/>
              </a:rPr>
            </a:b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18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Consolas" panose="020B0609020204030204" pitchFamily="49" charset="0"/>
                <a:ea typeface="Menlo" panose="020B0609030804020204" pitchFamily="49" charset="0"/>
                <a:cs typeface="Consolas" panose="020B060902020403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AutoShape 9">
            <a:extLst>
              <a:ext uri="{FF2B5EF4-FFF2-40B4-BE49-F238E27FC236}">
                <a16:creationId xmlns:a16="http://schemas.microsoft.com/office/drawing/2014/main" id="{B95C8717-DEDA-995F-58A6-B727C8BBE736}"/>
              </a:ext>
            </a:extLst>
          </p:cNvPr>
          <p:cNvSpPr>
            <a:spLocks/>
          </p:cNvSpPr>
          <p:nvPr/>
        </p:nvSpPr>
        <p:spPr bwMode="auto">
          <a:xfrm>
            <a:off x="8442095" y="1612582"/>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Only accept JSON</a:t>
            </a:r>
          </a:p>
        </p:txBody>
      </p:sp>
      <p:cxnSp>
        <p:nvCxnSpPr>
          <p:cNvPr id="16" name="Straight Arrow Connector 15">
            <a:extLst>
              <a:ext uri="{FF2B5EF4-FFF2-40B4-BE49-F238E27FC236}">
                <a16:creationId xmlns:a16="http://schemas.microsoft.com/office/drawing/2014/main" id="{B7F05F48-178B-5C00-18FE-9C3CF41951AC}"/>
              </a:ext>
            </a:extLst>
          </p:cNvPr>
          <p:cNvCxnSpPr>
            <a:cxnSpLocks/>
          </p:cNvCxnSpPr>
          <p:nvPr/>
        </p:nvCxnSpPr>
        <p:spPr>
          <a:xfrm flipH="1">
            <a:off x="4262284" y="2043205"/>
            <a:ext cx="4179811" cy="43062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1800" dirty="0">
                <a:solidFill>
                  <a:srgbClr val="AF00DB"/>
                </a:solidFill>
                <a:latin typeface="Consolas" panose="020B0609020204030204" pitchFamily="49" charset="0"/>
                <a:cs typeface="Consolas" panose="020B0609020204030204" pitchFamily="49" charset="0"/>
              </a:rPr>
              <a:t>import</a:t>
            </a:r>
            <a:r>
              <a:rPr lang="en-US" sz="1800" dirty="0">
                <a:latin typeface="Consolas" panose="020B0609020204030204" pitchFamily="49" charset="0"/>
                <a:ea typeface="Menlo" panose="020B0609030804020204" pitchFamily="49" charset="0"/>
                <a:cs typeface="Consolas" panose="020B0609020204030204" pitchFamily="49" charset="0"/>
              </a:rPr>
              <a:t> express </a:t>
            </a:r>
            <a:r>
              <a:rPr lang="en-US" sz="1800" dirty="0">
                <a:solidFill>
                  <a:srgbClr val="AF00DB"/>
                </a:solidFill>
                <a:latin typeface="Consolas" panose="020B0609020204030204" pitchFamily="49" charset="0"/>
                <a:cs typeface="Consolas" panose="020B0609020204030204" pitchFamily="49" charset="0"/>
              </a:rPr>
              <a:t>from</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1800" dirty="0">
                <a:latin typeface="Consolas" panose="020B0609020204030204" pitchFamily="49" charset="0"/>
                <a:ea typeface="Menlo" panose="020B0609030804020204" pitchFamily="49" charset="0"/>
                <a:cs typeface="Consolas" panose="020B0609020204030204" pitchFamily="49" charset="0"/>
              </a:rPr>
              <a:t>());</a:t>
            </a:r>
            <a:br>
              <a:rPr lang="en-US" sz="1800" dirty="0">
                <a:latin typeface="Consolas" panose="020B0609020204030204" pitchFamily="49" charset="0"/>
                <a:ea typeface="Menlo" panose="020B0609030804020204" pitchFamily="49" charset="0"/>
                <a:cs typeface="Consolas" panose="020B0609020204030204" pitchFamily="49" charset="0"/>
              </a:rPr>
            </a:b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 {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1800" dirty="0">
                <a:latin typeface="Consolas" panose="020B0609020204030204" pitchFamily="49" charset="0"/>
                <a:ea typeface="Menlo" panose="020B0609030804020204" pitchFamily="49" charset="0"/>
                <a:cs typeface="Consolas" panose="020B0609020204030204" pitchFamily="49" charset="0"/>
              </a:rPr>
              <a:t> =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br>
              <a:rPr lang="en-US" sz="1800" dirty="0">
                <a:latin typeface="Consolas" panose="020B0609020204030204" pitchFamily="49" charset="0"/>
                <a:ea typeface="Menlo" panose="020B0609030804020204" pitchFamily="49" charset="0"/>
                <a:cs typeface="Consolas" panose="020B0609020204030204" pitchFamily="49" charset="0"/>
              </a:rPr>
            </a:b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AF00DB"/>
                </a:solidFill>
                <a:latin typeface="Consolas" panose="020B0609020204030204" pitchFamily="49" charset="0"/>
                <a:cs typeface="Consolas" panose="020B0609020204030204" pitchFamily="49" charset="0"/>
              </a:rPr>
              <a:t>if</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error: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 </a:t>
            </a:r>
            <a:r>
              <a:rPr lang="en-US" sz="1800" dirty="0">
                <a:solidFill>
                  <a:srgbClr val="AF00DB"/>
                </a:solidFill>
                <a:latin typeface="Consolas" panose="020B0609020204030204" pitchFamily="49" charset="0"/>
                <a:cs typeface="Consolas" panose="020B0609020204030204" pitchFamily="49" charset="0"/>
              </a:rPr>
              <a:t>else</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1800" dirty="0">
                <a:latin typeface="Consolas" panose="020B0609020204030204" pitchFamily="49" charset="0"/>
                <a:ea typeface="Menlo" panose="020B0609030804020204" pitchFamily="49" charset="0"/>
                <a:cs typeface="Consolas" panose="020B0609020204030204" pitchFamily="49" charset="0"/>
              </a:rPr>
              <a:t>, () =&gt;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1800" dirty="0">
                <a:latin typeface="Consolas" panose="020B0609020204030204" pitchFamily="49" charset="0"/>
                <a:ea typeface="Menlo" panose="020B0609030804020204" pitchFamily="49" charset="0"/>
                <a:cs typeface="Consolas" panose="020B0609020204030204" pitchFamily="49" charset="0"/>
              </a:rPr>
            </a:b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18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Improving This Web Server With Zod</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16</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18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import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 z } </a:t>
            </a:r>
            <a:r>
              <a:rPr lang="en-US" sz="18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from</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zod</a:t>
            </a:r>
            <a:r>
              <a:rPr lang="en-US" sz="18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a:t>
            </a:r>
            <a:endParaRPr lang="en-US" sz="18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a:solidFill>
                  <a:srgbClr val="AF00DB"/>
                </a:solidFill>
                <a:latin typeface="Consolas" panose="020B0609020204030204" pitchFamily="49" charset="0"/>
                <a:ea typeface="Menlo" panose="020B0609030804020204" pitchFamily="49" charset="0"/>
                <a:cs typeface="Consolas" panose="020B0609020204030204" pitchFamily="49" charset="0"/>
              </a:rPr>
              <a:t>import</a:t>
            </a:r>
            <a:r>
              <a:rPr lang="en-US" sz="1800" dirty="0">
                <a:latin typeface="Consolas" panose="020B0609020204030204" pitchFamily="49" charset="0"/>
                <a:ea typeface="Menlo" panose="020B0609030804020204" pitchFamily="49" charset="0"/>
                <a:cs typeface="Consolas" panose="020B0609020204030204" pitchFamily="49" charset="0"/>
              </a:rPr>
              <a:t> express </a:t>
            </a:r>
            <a:r>
              <a:rPr lang="en-US" sz="1800" dirty="0">
                <a:solidFill>
                  <a:srgbClr val="AF00DB"/>
                </a:solidFill>
                <a:latin typeface="Consolas" panose="020B0609020204030204" pitchFamily="49" charset="0"/>
                <a:ea typeface="Menlo" panose="020B0609030804020204" pitchFamily="49" charset="0"/>
                <a:cs typeface="Consolas" panose="020B0609020204030204" pitchFamily="49" charset="0"/>
              </a:rPr>
              <a:t>from</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1800" dirty="0">
                <a:latin typeface="Consolas" panose="020B0609020204030204" pitchFamily="49" charset="0"/>
                <a:ea typeface="Menlo" panose="020B0609030804020204" pitchFamily="49" charset="0"/>
                <a:cs typeface="Consolas" panose="020B0609020204030204" pitchFamily="49" charset="0"/>
              </a:rPr>
              <a:t>());</a:t>
            </a:r>
            <a:br>
              <a:rPr lang="en-US" sz="18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rPr>
            </a:br>
            <a:endParaRPr lang="en-US" sz="18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 </a:t>
            </a:r>
            <a:r>
              <a:rPr lang="en-US" sz="18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18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object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username</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18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18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password</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18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18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auth </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18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safeParse</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req.body</a:t>
            </a:r>
            <a:r>
              <a:rPr lang="en-US" sz="18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if</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auth.error</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res</a:t>
            </a:r>
            <a:r>
              <a:rPr lang="en-US" sz="18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status</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400</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1800" dirty="0">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send</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error: </a:t>
            </a:r>
            <a:r>
              <a:rPr lang="en-US" sz="18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'Unexpected message' </a:t>
            </a: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br>
              <a:rPr lang="en-US" sz="1800" dirty="0">
                <a:latin typeface="Consolas" panose="020B0609020204030204" pitchFamily="49" charset="0"/>
                <a:ea typeface="Menlo" panose="020B0609030804020204" pitchFamily="49" charset="0"/>
                <a:cs typeface="Consolas" panose="020B0609020204030204" pitchFamily="49" charset="0"/>
              </a:rPr>
            </a:br>
            <a:r>
              <a:rPr lang="en-US" sz="18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AF00DB"/>
                </a:solidFill>
                <a:latin typeface="Consolas" panose="020B0609020204030204" pitchFamily="49" charset="0"/>
                <a:ea typeface="Menlo" panose="020B0609030804020204" pitchFamily="49" charset="0"/>
                <a:cs typeface="Consolas" panose="020B0609020204030204" pitchFamily="49" charset="0"/>
              </a:rPr>
              <a:t>else if</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error: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 else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1800" dirty="0">
                <a:latin typeface="Consolas" panose="020B0609020204030204" pitchFamily="49" charset="0"/>
                <a:ea typeface="Menlo" panose="020B0609030804020204" pitchFamily="49" charset="0"/>
                <a:cs typeface="Consolas" panose="020B0609020204030204" pitchFamily="49" charset="0"/>
              </a:rPr>
              <a:t>: </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1800" dirty="0">
                <a:latin typeface="Consolas" panose="020B0609020204030204" pitchFamily="49" charset="0"/>
                <a:ea typeface="Menlo" panose="020B0609030804020204" pitchFamily="49" charset="0"/>
                <a:cs typeface="Consolas" panose="020B0609020204030204" pitchFamily="49" charset="0"/>
              </a:rPr>
              <a:t>, () =&gt; </a:t>
            </a:r>
            <a:r>
              <a:rPr lang="en-US" sz="18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1800" dirty="0" err="1">
                <a:latin typeface="Consolas" panose="020B0609020204030204" pitchFamily="49" charset="0"/>
                <a:ea typeface="Menlo" panose="020B0609030804020204" pitchFamily="49" charset="0"/>
                <a:cs typeface="Consolas" panose="020B0609020204030204" pitchFamily="49" charset="0"/>
              </a:rPr>
              <a:t>.</a:t>
            </a:r>
            <a:r>
              <a:rPr lang="en-US" sz="18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1800" dirty="0">
                <a:latin typeface="Consolas" panose="020B0609020204030204" pitchFamily="49" charset="0"/>
                <a:ea typeface="Menlo" panose="020B0609030804020204" pitchFamily="49" charset="0"/>
                <a:cs typeface="Consolas" panose="020B0609020204030204" pitchFamily="49" charset="0"/>
              </a:rPr>
              <a:t>(</a:t>
            </a:r>
            <a:r>
              <a:rPr lang="en-US" sz="18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18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1800" dirty="0">
                <a:latin typeface="Consolas" panose="020B0609020204030204" pitchFamily="49" charset="0"/>
                <a:ea typeface="Menlo" panose="020B0609030804020204" pitchFamily="49" charset="0"/>
                <a:cs typeface="Consolas" panose="020B0609020204030204" pitchFamily="49" charset="0"/>
              </a:rPr>
            </a:br>
            <a:endParaRPr lang="en-US" sz="18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18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1800" dirty="0">
              <a:latin typeface="Consolas" panose="020B0609020204030204" pitchFamily="49" charset="0"/>
              <a:ea typeface="Menlo" panose="020B0609030804020204" pitchFamily="49" charset="0"/>
              <a:cs typeface="Consolas" panose="020B060902020403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63F7C-2061-A5F6-3422-8C083D667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3DC859-9561-2AF2-FC3D-34664DD3B9BC}"/>
              </a:ext>
            </a:extLst>
          </p:cNvPr>
          <p:cNvSpPr>
            <a:spLocks noGrp="1"/>
          </p:cNvSpPr>
          <p:nvPr>
            <p:ph type="title"/>
          </p:nvPr>
        </p:nvSpPr>
        <p:spPr>
          <a:xfrm>
            <a:off x="838200" y="18255"/>
            <a:ext cx="10515600" cy="1325563"/>
          </a:xfrm>
        </p:spPr>
        <p:txBody>
          <a:bodyPr>
            <a:normAutofit/>
          </a:bodyPr>
          <a:lstStyle/>
          <a:p>
            <a:r>
              <a:rPr lang="en-US" dirty="0"/>
              <a:t>Zod Can Check Even More than TypeScript</a:t>
            </a:r>
          </a:p>
        </p:txBody>
      </p:sp>
      <p:sp>
        <p:nvSpPr>
          <p:cNvPr id="4" name="Slide Number Placeholder 3">
            <a:extLst>
              <a:ext uri="{FF2B5EF4-FFF2-40B4-BE49-F238E27FC236}">
                <a16:creationId xmlns:a16="http://schemas.microsoft.com/office/drawing/2014/main" id="{ED67282D-A4ED-863F-8554-A25F31C97C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5" name="TextBox 4">
            <a:extLst>
              <a:ext uri="{FF2B5EF4-FFF2-40B4-BE49-F238E27FC236}">
                <a16:creationId xmlns:a16="http://schemas.microsoft.com/office/drawing/2014/main" id="{E38EC348-38DC-B0E5-0496-F2710E33B587}"/>
              </a:ext>
            </a:extLst>
          </p:cNvPr>
          <p:cNvSpPr txBox="1"/>
          <p:nvPr/>
        </p:nvSpPr>
        <p:spPr>
          <a:xfrm>
            <a:off x="744069" y="1984124"/>
            <a:ext cx="11354146" cy="37319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2060"/>
                </a:solidFill>
                <a:effectLst/>
                <a:latin typeface="Consolas" panose="020B0609020204030204" pitchFamily="49" charset="0"/>
                <a:cs typeface="Consolas" panose="020B0609020204030204" pitchFamily="49" charset="0"/>
              </a:rPr>
              <a:t>const</a:t>
            </a:r>
            <a:r>
              <a:rPr lang="en-US" b="0" dirty="0">
                <a:solidFill>
                  <a:schemeClr val="tx1"/>
                </a:solidFill>
                <a:effectLst/>
                <a:latin typeface="Consolas" panose="020B0609020204030204" pitchFamily="49" charset="0"/>
                <a:cs typeface="Consolas" panose="020B0609020204030204" pitchFamily="49" charset="0"/>
              </a:rPr>
              <a:t> </a:t>
            </a:r>
            <a:r>
              <a:rPr lang="en-US" b="0" dirty="0" err="1">
                <a:solidFill>
                  <a:srgbClr val="0070C0"/>
                </a:solidFill>
                <a:effectLst/>
                <a:latin typeface="Consolas" panose="020B0609020204030204" pitchFamily="49" charset="0"/>
                <a:cs typeface="Consolas" panose="020B0609020204030204" pitchFamily="49" charset="0"/>
              </a:rPr>
              <a:t>zHelloInput</a:t>
            </a:r>
            <a:r>
              <a:rPr lang="en-US" b="0" dirty="0">
                <a:solidFill>
                  <a:schemeClr val="tx1"/>
                </a:solidFill>
                <a:effectLst/>
                <a:latin typeface="Consolas" panose="020B0609020204030204" pitchFamily="49" charset="0"/>
                <a:cs typeface="Consolas" panose="020B0609020204030204" pitchFamily="49" charset="0"/>
              </a:rPr>
              <a:t> = </a:t>
            </a:r>
            <a:r>
              <a:rPr lang="en-US" b="0" dirty="0" err="1">
                <a:solidFill>
                  <a:srgbClr val="0070C0"/>
                </a:solidFill>
                <a:effectLst/>
                <a:latin typeface="Consolas" panose="020B0609020204030204" pitchFamily="49" charset="0"/>
                <a:cs typeface="Consolas" panose="020B0609020204030204" pitchFamily="49" charset="0"/>
              </a:rPr>
              <a:t>z</a:t>
            </a:r>
            <a:r>
              <a:rPr lang="en-US" b="0" dirty="0" err="1">
                <a:solidFill>
                  <a:schemeClr val="tx1"/>
                </a:solidFill>
                <a:effectLst/>
                <a:latin typeface="Consolas" panose="020B0609020204030204" pitchFamily="49" charset="0"/>
                <a:cs typeface="Consolas" panose="020B0609020204030204" pitchFamily="49" charset="0"/>
              </a:rPr>
              <a:t>.</a:t>
            </a:r>
            <a:r>
              <a:rPr lang="en-US" b="0" dirty="0" err="1">
                <a:solidFill>
                  <a:schemeClr val="accent4">
                    <a:lumMod val="50000"/>
                  </a:schemeClr>
                </a:solidFill>
                <a:effectLst/>
                <a:latin typeface="Consolas" panose="020B0609020204030204" pitchFamily="49" charset="0"/>
                <a:cs typeface="Consolas" panose="020B0609020204030204" pitchFamily="49" charset="0"/>
              </a:rPr>
              <a:t>int</a:t>
            </a:r>
            <a:r>
              <a:rPr lang="en-US" b="0" dirty="0">
                <a:solidFill>
                  <a:schemeClr val="tx1"/>
                </a:solidFill>
                <a:effectLst/>
                <a:latin typeface="Consolas" panose="020B0609020204030204" pitchFamily="49" charset="0"/>
                <a:cs typeface="Consolas" panose="020B0609020204030204" pitchFamily="49" charset="0"/>
              </a:rPr>
              <a:t>().</a:t>
            </a:r>
            <a:r>
              <a:rPr lang="en-US" b="0" dirty="0" err="1">
                <a:solidFill>
                  <a:schemeClr val="accent4">
                    <a:lumMod val="50000"/>
                  </a:schemeClr>
                </a:solidFill>
                <a:effectLst/>
                <a:latin typeface="Consolas" panose="020B0609020204030204" pitchFamily="49" charset="0"/>
                <a:cs typeface="Consolas" panose="020B0609020204030204" pitchFamily="49" charset="0"/>
              </a:rPr>
              <a:t>gte</a:t>
            </a:r>
            <a:r>
              <a:rPr lang="en-US" b="0" dirty="0">
                <a:solidFill>
                  <a:schemeClr val="tx1"/>
                </a:solidFill>
                <a:effectLst/>
                <a:latin typeface="Consolas" panose="020B0609020204030204" pitchFamily="49" charset="0"/>
                <a:cs typeface="Consolas" panose="020B0609020204030204" pitchFamily="49" charset="0"/>
              </a:rPr>
              <a:t>(</a:t>
            </a:r>
            <a:r>
              <a:rPr lang="en-US" b="0" dirty="0">
                <a:solidFill>
                  <a:srgbClr val="0070C0"/>
                </a:solidFill>
                <a:effectLst/>
                <a:latin typeface="Consolas" panose="020B0609020204030204" pitchFamily="49" charset="0"/>
                <a:cs typeface="Consolas" panose="020B0609020204030204" pitchFamily="49" charset="0"/>
              </a:rPr>
              <a:t>0</a:t>
            </a:r>
            <a:r>
              <a:rPr lang="en-US" b="0" dirty="0">
                <a:solidFill>
                  <a:schemeClr val="tx1"/>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8000"/>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Prints "hello" repeatedly</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@param</a:t>
            </a: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8000"/>
                </a:solidFill>
                <a:effectLst/>
                <a:latin typeface="Consolas" panose="020B0609020204030204" pitchFamily="49" charset="0"/>
                <a:cs typeface="Consolas" panose="020B0609020204030204" pitchFamily="49" charset="0"/>
              </a:rPr>
              <a:t> - number of times to print “hello”</a:t>
            </a:r>
          </a:p>
          <a:p>
            <a:pPr>
              <a:lnSpc>
                <a:spcPct val="110000"/>
              </a:lnSpc>
              <a:buNone/>
            </a:pPr>
            <a:r>
              <a:rPr lang="en-US" dirty="0">
                <a:solidFill>
                  <a:srgbClr val="008000"/>
                </a:solidFill>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@throws </a:t>
            </a:r>
            <a:r>
              <a:rPr lang="en-US" dirty="0">
                <a:solidFill>
                  <a:srgbClr val="008000"/>
                </a:solidFill>
                <a:latin typeface="Consolas" panose="020B0609020204030204" pitchFamily="49" charset="0"/>
                <a:cs typeface="Consolas" panose="020B0609020204030204" pitchFamily="49" charset="0"/>
              </a:rPr>
              <a:t>if the input is not an integer &gt;= 0</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function</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helloNTimes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numHellos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unknown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2060"/>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0"/>
                </a:solidFill>
                <a:effectLst/>
                <a:latin typeface="Consolas" panose="020B0609020204030204" pitchFamily="49" charset="0"/>
                <a:cs typeface="Consolas" panose="020B0609020204030204" pitchFamily="49" charset="0"/>
              </a:rPr>
              <a:t>hellos</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2060"/>
                </a:solidFill>
                <a:effectLst/>
                <a:latin typeface="Consolas" panose="020B0609020204030204" pitchFamily="49" charset="0"/>
                <a:cs typeface="Consolas" panose="020B0609020204030204" pitchFamily="49" charset="0"/>
              </a:rPr>
              <a:t>zHelloInput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chemeClr val="accent4">
                    <a:lumMod val="50000"/>
                  </a:schemeClr>
                </a:solidFill>
                <a:effectLst/>
                <a:latin typeface="Consolas" panose="020B0609020204030204" pitchFamily="49" charset="0"/>
                <a:cs typeface="Consolas" panose="020B0609020204030204" pitchFamily="49" charset="0"/>
              </a:rPr>
              <a:t>parse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2060"/>
                </a:solidFill>
                <a:effectLst/>
                <a:latin typeface="Consolas" panose="020B0609020204030204" pitchFamily="49" charset="0"/>
                <a:cs typeface="Consolas" panose="020B0609020204030204" pitchFamily="49" charset="0"/>
              </a:rPr>
              <a:t>numHellos</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  for</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hellos</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0</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i</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console</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log</a:t>
            </a:r>
            <a:r>
              <a:rPr lang="en-US" b="0" dirty="0">
                <a:solidFill>
                  <a:srgbClr val="3B3B3B"/>
                </a:solidFill>
                <a:effectLst/>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'hello’</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353521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18</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24349</TotalTime>
  <Words>3376</Words>
  <Application>Microsoft Macintosh PowerPoint</Application>
  <PresentationFormat>Widescreen</PresentationFormat>
  <Paragraphs>296</Paragraphs>
  <Slides>18</Slides>
  <Notes>18</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Verdana</vt:lpstr>
      <vt:lpstr>Arial</vt:lpstr>
      <vt:lpstr>Consolas</vt:lpstr>
      <vt:lpstr>Calibri</vt:lpstr>
      <vt:lpstr>Helvetica Neue</vt:lpstr>
      <vt:lpstr>Menlo</vt:lpstr>
      <vt:lpstr>Office Theme</vt:lpstr>
      <vt:lpstr>CS 4530: Fundamentals of Software Engineering Module 3.1: Trusting TypeScript (or not!)</vt:lpstr>
      <vt:lpstr>PowerPoint Presentation</vt:lpstr>
      <vt:lpstr>When Have I Written Enough Tests?</vt:lpstr>
      <vt:lpstr>Learning Goals for this Lesson</vt:lpstr>
      <vt:lpstr>What Inputs Should We Test?</vt:lpstr>
      <vt:lpstr>For Unit Testing, Tests Inputs Should Respect a Function’s Contracts</vt:lpstr>
      <vt:lpstr>TypeScript Types Are Easily Circumvented (1)</vt:lpstr>
      <vt:lpstr>TypeScript Types Are Easily Circumvented (2)</vt:lpstr>
      <vt:lpstr>What Trusting Contracts Looks Like</vt:lpstr>
      <vt:lpstr>Untrusted Inputs Are Unpredictable</vt:lpstr>
      <vt:lpstr>Untrusted Inputs Should Be unknown</vt:lpstr>
      <vt:lpstr>Untrusted Inputs Should be “unknown”</vt:lpstr>
      <vt:lpstr>Libraries Make Checking Types Easier</vt:lpstr>
      <vt:lpstr>Using “any”: Common, Not Great</vt:lpstr>
      <vt:lpstr>Using “any”: Common, Not Great</vt:lpstr>
      <vt:lpstr>Improving This Web Server With Zod</vt:lpstr>
      <vt:lpstr>Zod Can Check Even More than TypeScript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254</cp:revision>
  <cp:lastPrinted>2026-01-02T18:10:21Z</cp:lastPrinted>
  <dcterms:created xsi:type="dcterms:W3CDTF">2021-01-07T15:19:22Z</dcterms:created>
  <dcterms:modified xsi:type="dcterms:W3CDTF">2026-01-04T21:53:51Z</dcterms:modified>
</cp:coreProperties>
</file>