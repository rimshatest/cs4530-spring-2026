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485" r:id="rId2"/>
    <p:sldId id="579" r:id="rId3"/>
    <p:sldId id="630" r:id="rId4"/>
    <p:sldId id="264" r:id="rId5"/>
    <p:sldId id="680" r:id="rId6"/>
    <p:sldId id="584" r:id="rId7"/>
    <p:sldId id="585" r:id="rId8"/>
    <p:sldId id="586" r:id="rId9"/>
    <p:sldId id="587" r:id="rId10"/>
    <p:sldId id="652" r:id="rId11"/>
    <p:sldId id="681" r:id="rId12"/>
    <p:sldId id="668" r:id="rId13"/>
    <p:sldId id="661" r:id="rId14"/>
    <p:sldId id="663" r:id="rId15"/>
    <p:sldId id="589" r:id="rId16"/>
    <p:sldId id="588" r:id="rId17"/>
    <p:sldId id="658" r:id="rId18"/>
    <p:sldId id="659" r:id="rId19"/>
    <p:sldId id="614" r:id="rId20"/>
    <p:sldId id="640" r:id="rId21"/>
    <p:sldId id="641" r:id="rId22"/>
    <p:sldId id="643" r:id="rId23"/>
    <p:sldId id="644" r:id="rId24"/>
    <p:sldId id="645" r:id="rId25"/>
    <p:sldId id="646" r:id="rId26"/>
    <p:sldId id="289" r:id="rId27"/>
    <p:sldId id="660" r:id="rId28"/>
    <p:sldId id="291" r:id="rId29"/>
    <p:sldId id="669" r:id="rId30"/>
  </p:sldIdLst>
  <p:sldSz cx="12192000" cy="6858000"/>
  <p:notesSz cx="6858000" cy="9144000"/>
  <p:embeddedFontLst>
    <p:embeddedFont>
      <p:font typeface="Consolas" panose="020B0609020204030204" pitchFamily="49" charset="0"/>
      <p:regular r:id="rId32"/>
      <p:bold r:id="rId33"/>
      <p:italic r:id="rId34"/>
      <p:boldItalic r:id="rId35"/>
    </p:embeddedFont>
    <p:embeddedFont>
      <p:font typeface="Ink Free" panose="03080402000500000000" pitchFamily="66" charset="0"/>
      <p:regular r:id="rId36"/>
    </p:embeddedFont>
    <p:embeddedFont>
      <p:font typeface="Verdana" panose="020B0604030504040204" pitchFamily="34"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30"/>
            <p14:sldId id="264"/>
            <p14:sldId id="680"/>
            <p14:sldId id="584"/>
            <p14:sldId id="585"/>
            <p14:sldId id="586"/>
            <p14:sldId id="587"/>
            <p14:sldId id="652"/>
            <p14:sldId id="681"/>
            <p14:sldId id="668"/>
            <p14:sldId id="661"/>
            <p14:sldId id="663"/>
            <p14:sldId id="589"/>
            <p14:sldId id="588"/>
            <p14:sldId id="658"/>
            <p14:sldId id="659"/>
            <p14:sldId id="614"/>
            <p14:sldId id="640"/>
            <p14:sldId id="641"/>
            <p14:sldId id="643"/>
            <p14:sldId id="644"/>
            <p14:sldId id="645"/>
            <p14:sldId id="646"/>
            <p14:sldId id="289"/>
            <p14:sldId id="660"/>
            <p14:sldId id="291"/>
            <p14:sldId id="669"/>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65714" autoAdjust="0"/>
  </p:normalViewPr>
  <p:slideViewPr>
    <p:cSldViewPr snapToGrid="0">
      <p:cViewPr varScale="1">
        <p:scale>
          <a:sx n="82" d="100"/>
          <a:sy n="82" d="100"/>
        </p:scale>
        <p:origin x="1232" y="16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Returning to the key question: when have we written enough tests.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why do we write tests in the first place? That might help us know when we’re done.</a:t>
            </a:r>
          </a:p>
          <a:p>
            <a:endParaRPr lang="en-US" dirty="0"/>
          </a:p>
        </p:txBody>
      </p:sp>
    </p:spTree>
    <p:extLst>
      <p:ext uri="{BB962C8B-B14F-4D97-AF65-F5344CB8AC3E}">
        <p14:creationId xmlns:p14="http://schemas.microsoft.com/office/powerpoint/2010/main" val="2435961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E018B-B5C0-8E63-922E-16FFF772E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FC89D-9A7E-D0AD-5328-E8CAA21AA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BA0FE-C0B5-199C-5FA1-D535ACC1E703}"/>
              </a:ext>
            </a:extLst>
          </p:cNvPr>
          <p:cNvSpPr>
            <a:spLocks noGrp="1"/>
          </p:cNvSpPr>
          <p:nvPr>
            <p:ph type="body" idx="1"/>
          </p:nvPr>
        </p:nvSpPr>
        <p:spPr/>
        <p:txBody>
          <a:bodyPr/>
          <a:lstStyle/>
          <a:p>
            <a:r>
              <a:rPr lang="en-US" dirty="0"/>
              <a:t>When we take an </a:t>
            </a:r>
            <a:r>
              <a:rPr lang="en-US" i="1" dirty="0"/>
              <a:t>unknown </a:t>
            </a:r>
            <a:r>
              <a:rPr lang="en-US" i="0" dirty="0"/>
              <a:t>input and validate it, that puts a branch in our code, and so branch coverage obligates us to write tests that pass and fail authentication.</a:t>
            </a:r>
            <a:endParaRPr lang="en-US" dirty="0"/>
          </a:p>
        </p:txBody>
      </p:sp>
      <p:sp>
        <p:nvSpPr>
          <p:cNvPr id="4" name="Slide Number Placeholder 3">
            <a:extLst>
              <a:ext uri="{FF2B5EF4-FFF2-40B4-BE49-F238E27FC236}">
                <a16:creationId xmlns:a16="http://schemas.microsoft.com/office/drawing/2014/main" id="{E7E1F34A-B2C8-97DF-B7FD-B99B5C8B2671}"/>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9815807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48171-4442-B15D-DE0D-B372B9BDC397}"/>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C66D89A7-B0D1-C436-6C0D-DB4F9CEF445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0871838B-0D1F-E7BC-D35F-37CF66C33B3C}"/>
              </a:ext>
            </a:extLst>
          </p:cNvPr>
          <p:cNvSpPr>
            <a:spLocks noGrp="1"/>
          </p:cNvSpPr>
          <p:nvPr>
            <p:ph type="body" sz="quarter" idx="1"/>
          </p:nvPr>
        </p:nvSpPr>
        <p:spPr>
          <a:prstGeom prst="rect">
            <a:avLst/>
          </a:prstGeom>
        </p:spPr>
        <p:txBody>
          <a:bodyPr/>
          <a:lstStyle/>
          <a:p>
            <a:r>
              <a:rPr lang="en-US" dirty="0"/>
              <a:t>The idea of "mutation testing" is that most defects are the result of simple errors.  (Is this a realistic assumption?  Spoiler alert: it's realistic enough!)</a:t>
            </a:r>
          </a:p>
          <a:p>
            <a:endParaRPr lang="en-US" dirty="0"/>
          </a:p>
          <a:p>
            <a:r>
              <a:rPr lang="en-US" dirty="0"/>
              <a:t> In mutation testing, the adversary generates buggy code by making simple changes.  Generating buggy code in this way is clearly automatable.</a:t>
            </a:r>
            <a:endParaRPr dirty="0"/>
          </a:p>
        </p:txBody>
      </p:sp>
    </p:spTree>
    <p:extLst>
      <p:ext uri="{BB962C8B-B14F-4D97-AF65-F5344CB8AC3E}">
        <p14:creationId xmlns:p14="http://schemas.microsoft.com/office/powerpoint/2010/main" val="36674070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3.2: Code Coverage &amp; Mutation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dirty="0"/>
              <a:t>When I’ve tested the valid inputs</a:t>
            </a:r>
          </a:p>
          <a:p>
            <a:r>
              <a:rPr lang="en-US" b="1" dirty="0"/>
              <a:t>When I’ve tested all the code</a:t>
            </a:r>
          </a:p>
          <a:p>
            <a:r>
              <a:rPr lang="en-US" b="1"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3563959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7</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a:t>Line </a:t>
            </a:r>
            <a:r>
              <a:rPr lang="en-US"/>
              <a:t>and </a:t>
            </a:r>
            <a:r>
              <a:rPr lang="en-US" i="1"/>
              <a:t>Statement </a:t>
            </a:r>
            <a:r>
              <a:rPr lang="en-US"/>
              <a:t>coverage: coarsest measure.</a:t>
            </a:r>
          </a:p>
          <a:p>
            <a:r>
              <a:rPr lang="en-US"/>
              <a:t>Testing x = 0 exercises lines 1 and 2</a:t>
            </a:r>
          </a:p>
          <a:p>
            <a:r>
              <a:rPr lang="en-US"/>
              <a:t>Testing x = 10 exercises lines 1, 4, 5, and 6.</a:t>
            </a:r>
          </a:p>
          <a:p>
            <a:pPr marL="0" indent="0">
              <a:buNone/>
            </a:pPr>
            <a:endParaRPr lang="en-US"/>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a:t>Branch </a:t>
            </a:r>
            <a:r>
              <a:rPr lang="en-US"/>
              <a:t>coverage: most widely used in industry.</a:t>
            </a:r>
          </a:p>
          <a:p>
            <a:r>
              <a:rPr lang="en-US"/>
              <a:t>Testing with x &gt; 4 and x &lt;= 4 necessary to handle both branches on line 4.</a:t>
            </a:r>
          </a:p>
          <a:p>
            <a:r>
              <a:rPr lang="en-US"/>
              <a:t>Testing with odd and even numbers necessary to handle both branches on line 5.</a:t>
            </a:r>
          </a:p>
          <a:p>
            <a:r>
              <a:rPr lang="en-US"/>
              <a:t>The values -2, 0, 1, and 10 get full branch coverage.</a:t>
            </a:r>
          </a:p>
          <a:p>
            <a:pPr marL="0" indent="0">
              <a:buNone/>
            </a:pPr>
            <a:endParaRPr lang="en-US"/>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9</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4882662" cy="5221316"/>
          </a:xfrm>
        </p:spPr>
        <p:txBody>
          <a:bodyPr>
            <a:normAutofit/>
          </a:bodyPr>
          <a:lstStyle/>
          <a:p>
            <a:r>
              <a:rPr lang="en-US" dirty="0"/>
              <a:t>The values -2, 0, 1, and 10 get full branch coverage…</a:t>
            </a:r>
          </a:p>
          <a:p>
            <a:r>
              <a:rPr lang="en-US" dirty="0"/>
              <a:t>…but 5 causes line 6 to divide by zero! </a:t>
            </a:r>
          </a:p>
          <a:p>
            <a:pPr lvl="1"/>
            <a:r>
              <a:rPr lang="en-US" dirty="0"/>
              <a:t>In JavaScript/TypeScript, this doesn’t cause an exception, there’s a number called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744069" y="2501474"/>
            <a:ext cx="11354146" cy="44748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A97-DBC8-0F3D-837E-64A8785CC7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EC26B1-FFDE-FA93-B74B-1A743C7CE2B4}"/>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AED119D0-3E22-301E-435C-CD6CED918D55}"/>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E0F04692-3238-A686-5663-E67829A70035}"/>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6" name="TextBox 5">
            <a:extLst>
              <a:ext uri="{FF2B5EF4-FFF2-40B4-BE49-F238E27FC236}">
                <a16:creationId xmlns:a16="http://schemas.microsoft.com/office/drawing/2014/main" id="{13B10278-23FA-CAB8-FA66-36A58851839F}"/>
              </a:ext>
            </a:extLst>
          </p:cNvPr>
          <p:cNvSpPr txBox="1"/>
          <p:nvPr/>
        </p:nvSpPr>
        <p:spPr>
          <a:xfrm>
            <a:off x="744069" y="2501474"/>
            <a:ext cx="11354146" cy="35162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solidFill>
                  <a:srgbClr val="0000FF"/>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object</a:t>
            </a:r>
            <a:r>
              <a:rPr lang="en-US" sz="2000" dirty="0">
                <a:solidFill>
                  <a:schemeClr val="tx1"/>
                </a:solidFill>
                <a:latin typeface="Consolas" panose="020B0609020204030204" pitchFamily="49" charset="0"/>
                <a:cs typeface="Consolas" panose="020B0609020204030204" pitchFamily="49" charset="0"/>
              </a:rPr>
              <a:t>({ username: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string</a:t>
            </a:r>
            <a:r>
              <a:rPr lang="en-US" sz="2000" dirty="0">
                <a:solidFill>
                  <a:schemeClr val="accent5">
                    <a:lumMod val="50000"/>
                  </a:schemeClr>
                </a:solidFill>
                <a:latin typeface="Consolas" panose="020B0609020204030204" pitchFamily="49" charset="0"/>
                <a:cs typeface="Consolas" panose="020B0609020204030204" pitchFamily="49" charset="0"/>
              </a:rPr>
              <a:t>()</a:t>
            </a:r>
            <a:r>
              <a:rPr lang="en-US" sz="2000" dirty="0">
                <a:solidFill>
                  <a:schemeClr val="tx1"/>
                </a:solidFill>
                <a:latin typeface="Consolas" panose="020B0609020204030204" pitchFamily="49" charset="0"/>
                <a:cs typeface="Consolas" panose="020B0609020204030204" pitchFamily="49" charset="0"/>
              </a:rPr>
              <a:t>, password: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string</a:t>
            </a:r>
            <a:r>
              <a:rPr lang="en-US" sz="2000" dirty="0">
                <a:solidFill>
                  <a:schemeClr val="accent5">
                    <a:lumMod val="50000"/>
                  </a:schemeClr>
                </a:solidFill>
                <a:latin typeface="Consolas" panose="020B0609020204030204" pitchFamily="49" charset="0"/>
                <a:cs typeface="Consolas" panose="020B0609020204030204" pitchFamily="49" charset="0"/>
              </a:rPr>
              <a:t>()</a:t>
            </a:r>
            <a:r>
              <a:rPr lang="en-US" sz="2000" dirty="0">
                <a:solidFill>
                  <a:schemeClr val="tx1"/>
                </a:solidFill>
                <a:latin typeface="Consolas" panose="020B0609020204030204" pitchFamily="49" charset="0"/>
                <a:cs typeface="Consolas" panose="020B0609020204030204" pitchFamily="49" charset="0"/>
              </a:rPr>
              <a:t> })</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const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zAuth</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safeParse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(x);</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if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auth.error</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27694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More Examples</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42398377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14</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pPr lvl="1"/>
            <a:r>
              <a:rPr lang="en-US" dirty="0"/>
              <a:t>“Coverage is no substitute for thought” — Rob Pike</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299220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a:bodyPr>
          <a:lstStyle/>
          <a:p>
            <a:r>
              <a:rPr lang="en-US" dirty="0"/>
              <a:t>It can be helpful to think of testing as a game in which you play against an adversary.</a:t>
            </a:r>
          </a:p>
          <a:p>
            <a:r>
              <a:rPr lang="en-US" dirty="0"/>
              <a:t>Your adversary plays by producing multiple versions of code that you agree is buggy, and multiple versions of code you agree is correct.</a:t>
            </a:r>
          </a:p>
          <a:p>
            <a:r>
              <a:rPr lang="en-US" dirty="0"/>
              <a:t>Your win if your tests catch all the buggy code, </a:t>
            </a:r>
            <a:br>
              <a:rPr lang="en-US" dirty="0"/>
            </a:br>
            <a:r>
              <a:rPr lang="en-US" dirty="0"/>
              <a:t>and pass all the correct code.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5827377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17</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964C-B9F1-B09A-02B9-F3DBDD834230}"/>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3505756F-0E16-DD45-F6F8-5EF6A9FC0F4B}"/>
              </a:ext>
            </a:extLst>
          </p:cNvPr>
          <p:cNvSpPr txBox="1">
            <a:spLocks noGrp="1"/>
          </p:cNvSpPr>
          <p:nvPr>
            <p:ph type="title"/>
          </p:nvPr>
        </p:nvSpPr>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95BB1608-BF12-06F4-3A8E-8E22548F46EC}"/>
              </a:ext>
            </a:extLst>
          </p:cNvPr>
          <p:cNvSpPr>
            <a:spLocks noGrp="1"/>
          </p:cNvSpPr>
          <p:nvPr>
            <p:ph idx="1"/>
          </p:nvPr>
        </p:nvSpPr>
        <p:spPr>
          <a:xfrm>
            <a:off x="838200" y="1500160"/>
            <a:ext cx="9220200" cy="4351338"/>
          </a:xfrm>
        </p:spPr>
        <p:txBody>
          <a:bodyPr/>
          <a:lstStyle/>
          <a:p>
            <a:pPr marL="0" indent="0">
              <a:buNone/>
            </a:pPr>
            <a:r>
              <a:rPr lang="en-US"/>
              <a:t>Stryker is a </a:t>
            </a:r>
            <a:r>
              <a:rPr lang="en-US" i="1"/>
              <a:t>mutation tester </a:t>
            </a:r>
            <a:r>
              <a:rPr lang="en-US"/>
              <a:t>for JavaScript — an automated adversary!</a:t>
            </a:r>
          </a:p>
        </p:txBody>
      </p:sp>
      <p:sp>
        <p:nvSpPr>
          <p:cNvPr id="828" name="Slide Number">
            <a:extLst>
              <a:ext uri="{FF2B5EF4-FFF2-40B4-BE49-F238E27FC236}">
                <a16:creationId xmlns:a16="http://schemas.microsoft.com/office/drawing/2014/main" id="{02E8DAD1-E08C-F87D-BFC9-1B8899A1AC29}"/>
              </a:ext>
            </a:extLst>
          </p:cNvP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18</a:t>
            </a:fld>
            <a:endParaRPr/>
          </a:p>
        </p:txBody>
      </p:sp>
      <p:pic>
        <p:nvPicPr>
          <p:cNvPr id="4" name="Image" descr="Image">
            <a:extLst>
              <a:ext uri="{FF2B5EF4-FFF2-40B4-BE49-F238E27FC236}">
                <a16:creationId xmlns:a16="http://schemas.microsoft.com/office/drawing/2014/main" id="{4DE925F5-88D1-1054-240C-326948CD9F6D}"/>
              </a:ext>
            </a:extLst>
          </p:cNvPr>
          <p:cNvPicPr>
            <a:picLocks noChangeAspect="1"/>
          </p:cNvPicPr>
          <p:nvPr/>
        </p:nvPicPr>
        <p:blipFill>
          <a:blip r:embed="rId3"/>
          <a:stretch>
            <a:fillRect/>
          </a:stretch>
        </p:blipFill>
        <p:spPr>
          <a:xfrm>
            <a:off x="838200" y="2554975"/>
            <a:ext cx="10637069" cy="3548949"/>
          </a:xfrm>
          <a:prstGeom prst="rect">
            <a:avLst/>
          </a:prstGeom>
          <a:ln w="25400">
            <a:solidFill>
              <a:schemeClr val="accent1"/>
            </a:solidFill>
            <a:miter/>
          </a:ln>
        </p:spPr>
      </p:pic>
    </p:spTree>
    <p:extLst>
      <p:ext uri="{BB962C8B-B14F-4D97-AF65-F5344CB8AC3E}">
        <p14:creationId xmlns:p14="http://schemas.microsoft.com/office/powerpoint/2010/main" val="19954053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19</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28476552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26</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27</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28</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a:bodyPr>
          <a:lstStyle/>
          <a:p>
            <a:pPr marL="0" indent="0">
              <a:buNone/>
            </a:pPr>
            <a:r>
              <a:rPr lang="en-US" dirty="0"/>
              <a:t>It’s the end of the lesson, so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r>
              <a:rPr lang="en-US" dirty="0"/>
              <a:t>When have you written enough tests?</a:t>
            </a:r>
          </a:p>
          <a:p>
            <a:pPr lvl="1"/>
            <a:r>
              <a:rPr lang="en-US" dirty="0"/>
              <a:t>When you’ve tested all valid inputs?</a:t>
            </a:r>
          </a:p>
          <a:p>
            <a:pPr lvl="1"/>
            <a:r>
              <a:rPr lang="en-US" dirty="0"/>
              <a:t>When your tests get full code coverage?</a:t>
            </a:r>
          </a:p>
          <a:p>
            <a:pPr lvl="1"/>
            <a:r>
              <a:rPr lang="en-US" dirty="0"/>
              <a:t>When your tests can catch any buggy mutant code?</a:t>
            </a:r>
          </a:p>
          <a:p>
            <a:pPr lvl="1"/>
            <a:r>
              <a:rPr lang="en-US" dirty="0"/>
              <a:t>The answer depends!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29</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24363</TotalTime>
  <Words>3718</Words>
  <Application>Microsoft Macintosh PowerPoint</Application>
  <PresentationFormat>Widescreen</PresentationFormat>
  <Paragraphs>317</Paragraphs>
  <Slides>29</Slides>
  <Notes>27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Wingdings</vt:lpstr>
      <vt:lpstr>Helvetica Neue</vt:lpstr>
      <vt:lpstr>Verdana</vt:lpstr>
      <vt:lpstr>Arial</vt:lpstr>
      <vt:lpstr>Consolas</vt:lpstr>
      <vt:lpstr>Calibri</vt:lpstr>
      <vt:lpstr>Ink Free</vt:lpstr>
      <vt:lpstr>Office Theme</vt:lpstr>
      <vt:lpstr>CS 4530: Fundamentals of Software Engineering Module 3.2: Code Coverage &amp; Mutation Testing</vt:lpstr>
      <vt:lpstr>Learning Goals for this Lesson</vt:lpstr>
      <vt:lpstr>PowerPoint Presentation</vt:lpstr>
      <vt:lpstr>Why do we test?</vt:lpstr>
      <vt:lpstr>When Have I Written Enough Tests?</vt:lpstr>
      <vt:lpstr>Code Coverage</vt:lpstr>
      <vt:lpstr>Code Coverage: Line or Statement Coverage</vt:lpstr>
      <vt:lpstr>Code Coverage: Branch Coverage</vt:lpstr>
      <vt:lpstr>Code Coverage: Path Coverage</vt:lpstr>
      <vt:lpstr>Code Coverage: Example 1</vt:lpstr>
      <vt:lpstr>Code Coverage: Example 2</vt:lpstr>
      <vt:lpstr>Code Coverage: Example 2</vt:lpstr>
      <vt:lpstr>Code Coverage: More Examples</vt:lpstr>
      <vt:lpstr>Code Coverage in Vitest</vt:lpstr>
      <vt:lpstr>Code Coverage: Review</vt:lpstr>
      <vt:lpstr>Adversarial Testing</vt:lpstr>
      <vt:lpstr>Adversarial Testing</vt:lpstr>
      <vt:lpstr>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245</cp:revision>
  <dcterms:created xsi:type="dcterms:W3CDTF">2021-01-07T15:19:22Z</dcterms:created>
  <dcterms:modified xsi:type="dcterms:W3CDTF">2026-01-12T16:20:13Z</dcterms:modified>
</cp:coreProperties>
</file>