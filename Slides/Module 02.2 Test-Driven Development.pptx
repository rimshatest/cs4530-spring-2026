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0"/>
  </p:notesMasterIdLst>
  <p:sldIdLst>
    <p:sldId id="485" r:id="rId2"/>
    <p:sldId id="396" r:id="rId3"/>
    <p:sldId id="523" r:id="rId4"/>
    <p:sldId id="587" r:id="rId5"/>
    <p:sldId id="590" r:id="rId6"/>
    <p:sldId id="591" r:id="rId7"/>
    <p:sldId id="592" r:id="rId8"/>
    <p:sldId id="593" r:id="rId9"/>
    <p:sldId id="552" r:id="rId10"/>
    <p:sldId id="553" r:id="rId11"/>
    <p:sldId id="603" r:id="rId12"/>
    <p:sldId id="559" r:id="rId13"/>
    <p:sldId id="604" r:id="rId14"/>
    <p:sldId id="598" r:id="rId15"/>
    <p:sldId id="605" r:id="rId16"/>
    <p:sldId id="570" r:id="rId17"/>
    <p:sldId id="607" r:id="rId18"/>
    <p:sldId id="572" r:id="rId19"/>
    <p:sldId id="573" r:id="rId20"/>
    <p:sldId id="574" r:id="rId21"/>
    <p:sldId id="602" r:id="rId22"/>
    <p:sldId id="540" r:id="rId23"/>
    <p:sldId id="541" r:id="rId24"/>
    <p:sldId id="563" r:id="rId25"/>
    <p:sldId id="544" r:id="rId26"/>
    <p:sldId id="549" r:id="rId27"/>
    <p:sldId id="606" r:id="rId28"/>
    <p:sldId id="577" r:id="rId29"/>
  </p:sldIdLst>
  <p:sldSz cx="12192000" cy="6858000"/>
  <p:notesSz cx="6858000" cy="9144000"/>
  <p:embeddedFontLst>
    <p:embeddedFont>
      <p:font typeface="Consolas" panose="020B0609020204030204" pitchFamily="49" charset="0"/>
      <p:regular r:id="rId31"/>
      <p:bold r:id="rId32"/>
      <p:italic r:id="rId33"/>
      <p:boldItalic r:id="rId34"/>
    </p:embeddedFont>
    <p:embeddedFont>
      <p:font typeface="Ink Free" panose="03080402000500000000" pitchFamily="66" charset="0"/>
      <p:regular r:id="rId35"/>
    </p:embeddedFont>
    <p:embeddedFont>
      <p:font typeface="Verdana" panose="020B0604030504040204" pitchFamily="3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52"/>
            <p14:sldId id="553"/>
            <p14:sldId id="603"/>
            <p14:sldId id="559"/>
            <p14:sldId id="604"/>
            <p14:sldId id="598"/>
            <p14:sldId id="605"/>
            <p14:sldId id="570"/>
            <p14:sldId id="607"/>
            <p14:sldId id="572"/>
            <p14:sldId id="573"/>
            <p14:sldId id="574"/>
            <p14:sldId id="602"/>
            <p14:sldId id="540"/>
            <p14:sldId id="541"/>
            <p14:sldId id="563"/>
            <p14:sldId id="544"/>
            <p14:sldId id="549"/>
            <p14:sldId id="606"/>
            <p14:sldId id="57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43" autoAdjust="0"/>
    <p:restoredTop sz="65652" autoAdjust="0"/>
  </p:normalViewPr>
  <p:slideViewPr>
    <p:cSldViewPr snapToGrid="0">
      <p:cViewPr>
        <p:scale>
          <a:sx n="42" d="100"/>
          <a:sy n="42" d="100"/>
        </p:scale>
        <p:origin x="396" y="37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"Analyze and Negotiate"?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260385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"Design and Negotiate"?</a:t>
            </a:r>
          </a:p>
          <a:p>
            <a:r>
              <a:rPr lang="en-US" dirty="0"/>
              <a:t>&lt;read slide&gt;</a:t>
            </a:r>
          </a:p>
          <a:p>
            <a:r>
              <a:rPr lang="en-US" dirty="0"/>
              <a:t>We want to design the least that is necessary to write the tests. </a:t>
            </a:r>
          </a:p>
          <a:p>
            <a:r>
              <a:rPr lang="en-US" dirty="0"/>
              <a:t>Remember, every decision is a design commitment that will constrain our choices later on (or will require re-design if we guessed wrong).</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117945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meet our conditions of satisfaction, the college administrator is going to need to be doing something like connecting to a secure web application with a password. Most large applications have many levels, and after a process of requirements gathering, prioritization, and design, you might have a plan for an application that looks like this. (We’re going to be returning to this view later! It’s also how the course project </a:t>
            </a:r>
            <a:r>
              <a:rPr lang="en-US"/>
              <a:t>is designed.)</a:t>
            </a:r>
            <a:endParaRPr lang="en-US" dirty="0"/>
          </a:p>
          <a:p>
            <a:endParaRPr lang="en-US" dirty="0"/>
          </a:p>
          <a:p>
            <a:r>
              <a:rPr lang="en-US" dirty="0"/>
              <a:t>Right now, we’ll focus on conditions of satisfaction relevant to the </a:t>
            </a:r>
            <a:r>
              <a:rPr lang="en-US" i="1" dirty="0"/>
              <a:t>service layer abstraction</a:t>
            </a:r>
            <a:r>
              <a:rPr lang="en-US" i="0" dirty="0"/>
              <a:t>. Practically, that means we won’t be thinking about authentication, which generally happens at the controller level.</a:t>
            </a:r>
            <a:r>
              <a:rPr lang="en-US" dirty="0"/>
              <a:t> A condition of satisfaction might be able to lead to tests at multiple levels in an application.</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17898454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what might have happened in the "Analyze and Negotiate" process for this example.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291187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typescript we’re looking at in this class; it describes the service level abstraction for a very simple transcript database.</a:t>
            </a:r>
          </a:p>
          <a:p>
            <a:endParaRPr lang="en-US" dirty="0"/>
          </a:p>
          <a:p>
            <a:r>
              <a:rPr lang="en-US" dirty="0"/>
              <a:t>Notice that the types are treated abstractly: we've agreed that there are these 5 kinds of entities in the system, but we haven't yet designed what each of those entities look like.</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41391256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2514172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1" i="0" dirty="0">
                <a:solidFill>
                  <a:srgbClr val="5C5962"/>
                </a:solidFill>
                <a:effectLst/>
                <a:latin typeface="Calibri" panose="020F0502020204030204" pitchFamily="34" charset="0"/>
              </a:rPr>
              <a:t> </a:t>
            </a:r>
            <a:r>
              <a:rPr lang="en-US" b="0" i="0" dirty="0">
                <a:solidFill>
                  <a:srgbClr val="5C5962"/>
                </a:solidFill>
                <a:effectLst/>
                <a:latin typeface="Calibri" panose="020F0502020204030204" pitchFamily="34" charset="0"/>
              </a:rPr>
              <a:t>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Question: Does this test actually test that the new Id is distinct from any ID in the database?  A: no, but it gives some confidence.  Q: how could we make a test that would give us more confidence than this one? A: maybe try adding many new students; at each step check to see that we haven't reused the ids.  (Maybe mention Property-Based Testing:  you can in principle write a test that does this programmatically!  Probably you don't want to do this except for critical properties.  Do you think this property is important enough to do this?)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sketch for a test.</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29852611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expression you expect to throw must be a function of no arguments.   Demonstrate what happens without it.</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1814589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&lt;explain as needed&gt;</a:t>
            </a:r>
          </a:p>
          <a:p>
            <a:r>
              <a:rPr lang="en-US" dirty="0"/>
              <a:t>Prof. Wand says: I would have put the interface in a separate file.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557035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3019579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1/5/2026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1/5/2026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1/5/2026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1/5/2026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1/5/2026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1/5/2026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1/5/2026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1/5/2026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1/5/2026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1/5/2026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1/5/2026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2.2: </a:t>
            </a:r>
            <a:r>
              <a:rPr lang="en-US" altLang="en-US">
                <a:sym typeface="Helvetica Neue" charset="0"/>
              </a:rPr>
              <a:t>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sz="3600" dirty="0"/>
              <a:t>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199" y="1500188"/>
            <a:ext cx="8857129" cy="4351337"/>
          </a:xfrm>
        </p:spPr>
        <p:txBody>
          <a:bodyPr>
            <a:normAutofit/>
          </a:bodyPr>
          <a:lstStyle/>
          <a:p>
            <a:r>
              <a:rPr lang="en-US" dirty="0"/>
              <a:t>The college administrator can…</a:t>
            </a:r>
          </a:p>
          <a:p>
            <a:pPr lvl="1"/>
            <a:r>
              <a:rPr lang="en-US" dirty="0"/>
              <a:t>Access a persistent database of student records</a:t>
            </a:r>
          </a:p>
          <a:p>
            <a:pPr lvl="1"/>
            <a:r>
              <a:rPr lang="en-US" dirty="0"/>
              <a:t>Prevent unauthorized people from accessing or modifying the database</a:t>
            </a:r>
          </a:p>
          <a:p>
            <a:pPr lvl="1"/>
            <a:r>
              <a:rPr lang="en-US" dirty="0"/>
              <a:t>Add a new student to the database</a:t>
            </a:r>
          </a:p>
          <a:p>
            <a:pPr lvl="1"/>
            <a:r>
              <a:rPr lang="en-US" dirty="0"/>
              <a:t>Add a new student with the same name as an existing student.</a:t>
            </a:r>
          </a:p>
          <a:p>
            <a:pPr lvl="1"/>
            <a:r>
              <a:rPr lang="en-US" dirty="0"/>
              <a:t>Retrieve the transcript for a student</a:t>
            </a:r>
          </a:p>
          <a:p>
            <a:pPr lvl="1"/>
            <a:r>
              <a:rPr lang="en-US" dirty="0"/>
              <a:t>Delete a student from the database</a:t>
            </a:r>
          </a:p>
          <a:p>
            <a:pPr lvl="1"/>
            <a:r>
              <a:rPr lang="en-US" dirty="0"/>
              <a:t>Add a new grade for an existing student</a:t>
            </a:r>
          </a:p>
          <a:p>
            <a:pPr lvl="1"/>
            <a:r>
              <a:rPr lang="en-US" dirty="0"/>
              <a:t>Find out the grade that a student got in a course that they took</a:t>
            </a:r>
          </a:p>
          <a:p>
            <a:endParaRPr lang="en-US" dirty="0"/>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BC52A-7615-39A9-5EDC-3BEFE650AB26}"/>
              </a:ext>
            </a:extLst>
          </p:cNvPr>
          <p:cNvSpPr>
            <a:spLocks noGrp="1"/>
          </p:cNvSpPr>
          <p:nvPr>
            <p:ph type="title"/>
          </p:nvPr>
        </p:nvSpPr>
        <p:spPr/>
        <p:txBody>
          <a:bodyPr/>
          <a:lstStyle/>
          <a:p>
            <a:r>
              <a:rPr lang="en-US" dirty="0"/>
              <a:t>Analyze and Negotiate</a:t>
            </a:r>
          </a:p>
        </p:txBody>
      </p:sp>
      <p:sp>
        <p:nvSpPr>
          <p:cNvPr id="7" name="Content Placeholder 6">
            <a:extLst>
              <a:ext uri="{FF2B5EF4-FFF2-40B4-BE49-F238E27FC236}">
                <a16:creationId xmlns:a16="http://schemas.microsoft.com/office/drawing/2014/main" id="{3CF9B7E7-B6E7-7CC0-67E1-B9FCB0F57242}"/>
              </a:ext>
            </a:extLst>
          </p:cNvPr>
          <p:cNvSpPr>
            <a:spLocks noGrp="1"/>
          </p:cNvSpPr>
          <p:nvPr>
            <p:ph idx="1"/>
          </p:nvPr>
        </p:nvSpPr>
        <p:spPr/>
        <p:txBody>
          <a:bodyPr/>
          <a:lstStyle/>
          <a:p>
            <a:r>
              <a:rPr lang="en-US" dirty="0"/>
              <a:t>Analyze:</a:t>
            </a:r>
          </a:p>
          <a:p>
            <a:pPr lvl="1"/>
            <a:r>
              <a:rPr lang="en-US" dirty="0"/>
              <a:t>how does the client want the functionality to be delivered?</a:t>
            </a:r>
          </a:p>
          <a:p>
            <a:pPr lvl="1"/>
            <a:r>
              <a:rPr lang="en-US" dirty="0"/>
              <a:t>what ambiguities can you find that might make a difference to the client?</a:t>
            </a:r>
          </a:p>
          <a:p>
            <a:r>
              <a:rPr lang="en-US" dirty="0"/>
              <a:t>Negotiate</a:t>
            </a:r>
          </a:p>
          <a:p>
            <a:pPr lvl="1"/>
            <a:r>
              <a:rPr lang="en-US" dirty="0"/>
              <a:t>discuss these with the client and resolve the differences</a:t>
            </a:r>
          </a:p>
        </p:txBody>
      </p:sp>
      <p:sp>
        <p:nvSpPr>
          <p:cNvPr id="3" name="Slide Number Placeholder 2">
            <a:extLst>
              <a:ext uri="{FF2B5EF4-FFF2-40B4-BE49-F238E27FC236}">
                <a16:creationId xmlns:a16="http://schemas.microsoft.com/office/drawing/2014/main" id="{AB98BA92-5EF3-F023-F96D-58B7552E091A}"/>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29771322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43687-81AD-7CCD-E1ED-B5545D77FB14}"/>
              </a:ext>
            </a:extLst>
          </p:cNvPr>
          <p:cNvSpPr>
            <a:spLocks noGrp="1"/>
          </p:cNvSpPr>
          <p:nvPr>
            <p:ph type="title"/>
          </p:nvPr>
        </p:nvSpPr>
        <p:spPr/>
        <p:txBody>
          <a:bodyPr/>
          <a:lstStyle/>
          <a:p>
            <a:r>
              <a:rPr lang="en-US" dirty="0"/>
              <a:t>Design and Negotiate</a:t>
            </a:r>
          </a:p>
        </p:txBody>
      </p:sp>
      <p:sp>
        <p:nvSpPr>
          <p:cNvPr id="3" name="Content Placeholder 2">
            <a:extLst>
              <a:ext uri="{FF2B5EF4-FFF2-40B4-BE49-F238E27FC236}">
                <a16:creationId xmlns:a16="http://schemas.microsoft.com/office/drawing/2014/main" id="{184748BE-4D4B-A8D9-FE4E-0B0AE7267FAE}"/>
              </a:ext>
            </a:extLst>
          </p:cNvPr>
          <p:cNvSpPr>
            <a:spLocks noGrp="1"/>
          </p:cNvSpPr>
          <p:nvPr>
            <p:ph idx="1"/>
          </p:nvPr>
        </p:nvSpPr>
        <p:spPr/>
        <p:txBody>
          <a:bodyPr>
            <a:normAutofit lnSpcReduction="10000"/>
          </a:bodyPr>
          <a:lstStyle/>
          <a:p>
            <a:r>
              <a:rPr lang="en-US" dirty="0"/>
              <a:t>Design the least fragment of the system that could possibly deliver the COS. (YAGNI!)</a:t>
            </a:r>
          </a:p>
          <a:p>
            <a:pPr lvl="1"/>
            <a:r>
              <a:rPr lang="en-US" dirty="0"/>
              <a:t>What data would the system need?</a:t>
            </a:r>
          </a:p>
          <a:p>
            <a:pPr lvl="1"/>
            <a:r>
              <a:rPr lang="en-US" dirty="0"/>
              <a:t>What operations are needed on the data?</a:t>
            </a:r>
          </a:p>
          <a:p>
            <a:pPr lvl="1"/>
            <a:r>
              <a:rPr lang="en-US" dirty="0"/>
              <a:t>Give names to the testable things</a:t>
            </a:r>
          </a:p>
          <a:p>
            <a:r>
              <a:rPr lang="en-US" dirty="0"/>
              <a:t>Negotiate</a:t>
            </a:r>
          </a:p>
          <a:p>
            <a:pPr lvl="1"/>
            <a:r>
              <a:rPr lang="en-US" dirty="0"/>
              <a:t>Does the data include everything that the client wants?</a:t>
            </a:r>
          </a:p>
          <a:p>
            <a:pPr lvl="1"/>
            <a:r>
              <a:rPr lang="en-US" dirty="0"/>
              <a:t>Do the operations include enough to support the COS?</a:t>
            </a:r>
          </a:p>
          <a:p>
            <a:pPr lvl="1"/>
            <a:r>
              <a:rPr lang="en-US" dirty="0"/>
              <a:t>Did the client forget something?</a:t>
            </a:r>
          </a:p>
          <a:p>
            <a:pPr lvl="1"/>
            <a:r>
              <a:rPr lang="en-US" dirty="0"/>
              <a:t>Are the COS realistic and achievable?</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F4A4EC20-2283-DE87-B167-3C0A96E80520}"/>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1213968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dirty="0"/>
              <a:t>First negotiation: what are we going to test?</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9"/>
            <a:ext cx="7886700" cy="1128926"/>
          </a:xfrm>
        </p:spPr>
        <p:txBody>
          <a:bodyPr/>
          <a:lstStyle/>
          <a:p>
            <a:pPr marL="0" indent="0">
              <a:buNone/>
            </a:pPr>
            <a:r>
              <a:rPr lang="en-US" dirty="0"/>
              <a:t>A user story is about a person in a specific role, who will need to access a complex application</a:t>
            </a:r>
          </a:p>
          <a:p>
            <a:endParaRPr lang="en-US" dirty="0"/>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11</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2" name="TextBox 1">
            <a:extLst>
              <a:ext uri="{FF2B5EF4-FFF2-40B4-BE49-F238E27FC236}">
                <a16:creationId xmlns:a16="http://schemas.microsoft.com/office/drawing/2014/main" id="{2B95460E-29BC-A413-B6CC-C5D3D332CAD2}"/>
              </a:ext>
            </a:extLst>
          </p:cNvPr>
          <p:cNvSpPr txBox="1"/>
          <p:nvPr/>
        </p:nvSpPr>
        <p:spPr>
          <a:xfrm>
            <a:off x="2075935" y="7784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Left Brace 4">
            <a:extLst>
              <a:ext uri="{FF2B5EF4-FFF2-40B4-BE49-F238E27FC236}">
                <a16:creationId xmlns:a16="http://schemas.microsoft.com/office/drawing/2014/main" id="{AE46A944-6579-9B73-8430-D723475690AC}"/>
              </a:ext>
            </a:extLst>
          </p:cNvPr>
          <p:cNvSpPr/>
          <p:nvPr/>
        </p:nvSpPr>
        <p:spPr>
          <a:xfrm rot="16200000">
            <a:off x="4404064" y="3966517"/>
            <a:ext cx="533100" cy="1057840"/>
          </a:xfrm>
          <a:prstGeom prst="leftBrace">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Content Placeholder 17">
            <a:extLst>
              <a:ext uri="{FF2B5EF4-FFF2-40B4-BE49-F238E27FC236}">
                <a16:creationId xmlns:a16="http://schemas.microsoft.com/office/drawing/2014/main" id="{28A7A9F3-B907-3844-5DB2-5C97B53D72A2}"/>
              </a:ext>
            </a:extLst>
          </p:cNvPr>
          <p:cNvSpPr txBox="1">
            <a:spLocks/>
          </p:cNvSpPr>
          <p:nvPr/>
        </p:nvSpPr>
        <p:spPr>
          <a:xfrm>
            <a:off x="2152650" y="4793348"/>
            <a:ext cx="7886700" cy="1128926"/>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test specific parts of the application, still thinking about the user story and conditions of satisfaction</a:t>
            </a:r>
          </a:p>
          <a:p>
            <a:endParaRPr lang="en-US" dirty="0"/>
          </a:p>
        </p:txBody>
      </p:sp>
      <p:sp>
        <p:nvSpPr>
          <p:cNvPr id="3" name="Rectangle 2">
            <a:extLst>
              <a:ext uri="{FF2B5EF4-FFF2-40B4-BE49-F238E27FC236}">
                <a16:creationId xmlns:a16="http://schemas.microsoft.com/office/drawing/2014/main" id="{A749E57E-6A6E-810F-5AAC-14B75AE02267}"/>
              </a:ext>
            </a:extLst>
          </p:cNvPr>
          <p:cNvSpPr/>
          <p:nvPr/>
        </p:nvSpPr>
        <p:spPr>
          <a:xfrm>
            <a:off x="5199534" y="2862470"/>
            <a:ext cx="6992466" cy="1709530"/>
          </a:xfrm>
          <a:prstGeom prst="rect">
            <a:avLst/>
          </a:prstGeom>
          <a:solidFill>
            <a:schemeClr val="bg1">
              <a:alpha val="7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29815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FA922-225C-AB4B-AF6A-062BA4BE4CD6}"/>
              </a:ext>
            </a:extLst>
          </p:cNvPr>
          <p:cNvSpPr>
            <a:spLocks noGrp="1"/>
          </p:cNvSpPr>
          <p:nvPr>
            <p:ph type="title"/>
          </p:nvPr>
        </p:nvSpPr>
        <p:spPr/>
        <p:txBody>
          <a:bodyPr/>
          <a:lstStyle/>
          <a:p>
            <a:r>
              <a:rPr lang="en-US" dirty="0"/>
              <a:t>Analyze/Negotiate: what data do we need to worry about?</a:t>
            </a:r>
          </a:p>
        </p:txBody>
      </p:sp>
      <p:sp>
        <p:nvSpPr>
          <p:cNvPr id="3" name="Content Placeholder 2">
            <a:extLst>
              <a:ext uri="{FF2B5EF4-FFF2-40B4-BE49-F238E27FC236}">
                <a16:creationId xmlns:a16="http://schemas.microsoft.com/office/drawing/2014/main" id="{383463AB-8D36-69F3-37E3-6946B6ACD688}"/>
              </a:ext>
            </a:extLst>
          </p:cNvPr>
          <p:cNvSpPr>
            <a:spLocks noGrp="1"/>
          </p:cNvSpPr>
          <p:nvPr>
            <p:ph idx="1"/>
          </p:nvPr>
        </p:nvSpPr>
        <p:spPr/>
        <p:txBody>
          <a:bodyPr>
            <a:normAutofit lnSpcReduction="10000"/>
          </a:bodyPr>
          <a:lstStyle/>
          <a:p>
            <a:r>
              <a:rPr lang="en-US" dirty="0"/>
              <a:t>We agreed with the client that for each student we will need to save:</a:t>
            </a:r>
          </a:p>
          <a:p>
            <a:pPr lvl="1"/>
            <a:r>
              <a:rPr lang="en-US" dirty="0"/>
              <a:t>a student ID</a:t>
            </a:r>
          </a:p>
          <a:p>
            <a:pPr lvl="1"/>
            <a:r>
              <a:rPr lang="en-US" dirty="0"/>
              <a:t>the student's name</a:t>
            </a:r>
          </a:p>
          <a:p>
            <a:pPr lvl="1"/>
            <a:r>
              <a:rPr lang="en-US" dirty="0"/>
              <a:t>a list of the student's courses and grades</a:t>
            </a:r>
          </a:p>
          <a:p>
            <a:pPr lvl="1"/>
            <a:r>
              <a:rPr lang="en-US" dirty="0"/>
              <a:t>for each course the student has taken, the name of the course and the student's grade.</a:t>
            </a:r>
          </a:p>
          <a:p>
            <a:r>
              <a:rPr lang="en-US" dirty="0"/>
              <a:t>The client agreed that we don't have to keep track of when the student took the course</a:t>
            </a:r>
          </a:p>
          <a:p>
            <a:pPr lvl="1"/>
            <a:r>
              <a:rPr lang="en-US" dirty="0"/>
              <a:t>Keeping it simple for now!!</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C02C8123-88F8-ECE3-3E94-44F0726BB312}"/>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17658807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normAutofit/>
          </a:bodyPr>
          <a:lstStyle/>
          <a:p>
            <a:r>
              <a:rPr lang="en-US" sz="3600" dirty="0"/>
              <a:t>Now we can design the interface we are going to test.</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1447931" cy="493846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import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Course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Transcript</a:t>
            </a:r>
            <a:r>
              <a:rPr lang="en-US" sz="2200" b="0" dirty="0">
                <a:solidFill>
                  <a:srgbClr val="3B3B3B"/>
                </a:solidFill>
                <a:effectLst/>
                <a:latin typeface="Consolas" panose="020B0609020204030204" pitchFamily="49" charset="0"/>
                <a:cs typeface="Consolas" panose="020B0609020204030204" pitchFamily="49" charset="0"/>
              </a:rPr>
              <a:t> } </a:t>
            </a:r>
          </a:p>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from</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types.ts</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endParaRPr lang="en-US" sz="2200"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export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interface</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TranscriptService</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studentName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string</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getTranscript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Transcript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deleteStudent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void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8000"/>
                </a:solidFill>
                <a:effectLst/>
                <a:latin typeface="Consolas" panose="020B0609020204030204" pitchFamily="49" charset="0"/>
                <a:cs typeface="Consolas" panose="020B0609020204030204" pitchFamily="49" charset="0"/>
              </a:rPr>
              <a:t>// hmm, what to do about errors??</a:t>
            </a:r>
            <a:endParaRPr lang="en-US" sz="2200"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addGrade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course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Course</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courseGrade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void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getGrade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course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Course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nameToIDs</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studentName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string</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pPr>
            <a:r>
              <a:rPr lang="en-US" sz="2200" b="0" dirty="0">
                <a:solidFill>
                  <a:srgbClr val="3B3B3B"/>
                </a:solidFill>
                <a:effectLst/>
                <a:latin typeface="Consolas" panose="020B0609020204030204" pitchFamily="49" charset="0"/>
                <a:cs typeface="Consolas" panose="020B0609020204030204" pitchFamily="49" charset="0"/>
              </a:rPr>
              <a:t>}</a:t>
            </a:r>
          </a:p>
        </p:txBody>
      </p:sp>
      <p:sp>
        <p:nvSpPr>
          <p:cNvPr id="5" name="Rectangle: Rounded Corners 4">
            <a:extLst>
              <a:ext uri="{FF2B5EF4-FFF2-40B4-BE49-F238E27FC236}">
                <a16:creationId xmlns:a16="http://schemas.microsoft.com/office/drawing/2014/main" id="{BE863635-BFC5-69F9-967B-EED25A82F7F4}"/>
              </a:ext>
            </a:extLst>
          </p:cNvPr>
          <p:cNvSpPr/>
          <p:nvPr/>
        </p:nvSpPr>
        <p:spPr>
          <a:xfrm>
            <a:off x="8083826" y="2358887"/>
            <a:ext cx="3511826"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Tree>
    <p:extLst>
      <p:ext uri="{BB962C8B-B14F-4D97-AF65-F5344CB8AC3E}">
        <p14:creationId xmlns:p14="http://schemas.microsoft.com/office/powerpoint/2010/main" val="40878377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14</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sz="3600" dirty="0"/>
              <a:t>Analyzing </a:t>
            </a:r>
            <a:r>
              <a:rPr lang="en-US" sz="3600" dirty="0" err="1"/>
              <a:t>CoS</a:t>
            </a:r>
            <a:r>
              <a:rPr lang="en-US" sz="3600" dirty="0"/>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br>
              <a:rPr lang="en-US" dirty="0">
                <a:solidFill>
                  <a:schemeClr val="bg1"/>
                </a:solidFill>
              </a:rPr>
            </a:br>
            <a:endParaRPr lang="en-US" dirty="0">
              <a:solidFill>
                <a:schemeClr val="bg1"/>
              </a:solidFill>
            </a:endParaRPr>
          </a:p>
          <a:p>
            <a:pPr lvl="1"/>
            <a:r>
              <a:rPr lang="en-US" dirty="0"/>
              <a:t>…add a new student with the same name as an existing student</a:t>
            </a:r>
            <a:br>
              <a:rPr lang="en-US" dirty="0"/>
            </a:br>
            <a:endParaRPr lang="en-US" dirty="0"/>
          </a:p>
          <a:p>
            <a:pPr lvl="1"/>
            <a:r>
              <a:rPr lang="en-US" dirty="0"/>
              <a:t>…retrieve the transcript for a student</a:t>
            </a:r>
          </a:p>
          <a:p>
            <a:pPr marL="0" indent="0">
              <a:buNone/>
            </a:pPr>
            <a:endParaRPr lang="en-US" dirty="0"/>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15</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normAutofit/>
          </a:bodyPr>
          <a:lstStyle/>
          <a:p>
            <a:r>
              <a:rPr lang="en-US" sz="3600" dirty="0"/>
              <a:t>To run the tests, we'll need to design the data in a little more detail</a:t>
            </a:r>
          </a:p>
        </p:txBody>
      </p:sp>
      <p:sp>
        <p:nvSpPr>
          <p:cNvPr id="4" name="TextBox 3">
            <a:extLst>
              <a:ext uri="{FF2B5EF4-FFF2-40B4-BE49-F238E27FC236}">
                <a16:creationId xmlns:a16="http://schemas.microsoft.com/office/drawing/2014/main" id="{07AA5E5E-4768-9FD4-101A-5D84F2F97506}"/>
              </a:ext>
            </a:extLst>
          </p:cNvPr>
          <p:cNvSpPr txBox="1"/>
          <p:nvPr/>
        </p:nvSpPr>
        <p:spPr>
          <a:xfrm>
            <a:off x="372034" y="1679425"/>
            <a:ext cx="11819966" cy="372634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400" b="0" dirty="0">
                <a:solidFill>
                  <a:srgbClr val="008000"/>
                </a:solidFill>
                <a:effectLst/>
                <a:latin typeface="Consolas" panose="020B0609020204030204" pitchFamily="49" charset="0"/>
                <a:cs typeface="Consolas" panose="020B0609020204030204" pitchFamily="49" charset="0"/>
              </a:rPr>
              <a:t>// </a:t>
            </a:r>
            <a:r>
              <a:rPr lang="en-US" sz="2400" b="0" dirty="0" err="1">
                <a:solidFill>
                  <a:srgbClr val="008000"/>
                </a:solidFill>
                <a:effectLst/>
                <a:latin typeface="Consolas" panose="020B0609020204030204" pitchFamily="49" charset="0"/>
                <a:cs typeface="Consolas" panose="020B0609020204030204" pitchFamily="49" charset="0"/>
              </a:rPr>
              <a:t>types.ts</a:t>
            </a:r>
            <a:r>
              <a:rPr lang="en-US" sz="2400" b="0" dirty="0">
                <a:solidFill>
                  <a:srgbClr val="008000"/>
                </a:solidFill>
                <a:effectLst/>
                <a:latin typeface="Consolas" panose="020B0609020204030204" pitchFamily="49" charset="0"/>
                <a:cs typeface="Consolas" panose="020B0609020204030204" pitchFamily="49" charset="0"/>
              </a:rPr>
              <a:t> - types for the transcript service</a:t>
            </a:r>
            <a:br>
              <a:rPr lang="en-US" sz="2400" b="0" dirty="0">
                <a:solidFill>
                  <a:srgbClr val="3B3B3B"/>
                </a:solidFill>
                <a:effectLst/>
                <a:latin typeface="Consolas" panose="020B0609020204030204" pitchFamily="49" charset="0"/>
                <a:cs typeface="Consolas" panose="020B0609020204030204" pitchFamily="49" charset="0"/>
              </a:rPr>
            </a:b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StudentID</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Student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err="1">
                <a:solidFill>
                  <a:srgbClr val="001080"/>
                </a:solidFill>
                <a:effectLst/>
                <a:latin typeface="Consolas" panose="020B0609020204030204" pitchFamily="49" charset="0"/>
                <a:cs typeface="Consolas" panose="020B0609020204030204" pitchFamily="49" charset="0"/>
              </a:rPr>
              <a:t>studentID</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 </a:t>
            </a:r>
            <a:endParaRPr lang="en-US" sz="2400" b="0" dirty="0">
              <a:solidFill>
                <a:srgbClr val="001080"/>
              </a:solidFill>
              <a:effectLst/>
              <a:latin typeface="Consolas" panose="020B0609020204030204" pitchFamily="49" charset="0"/>
              <a:cs typeface="Consolas" panose="020B0609020204030204" pitchFamily="49" charset="0"/>
            </a:endParaRPr>
          </a:p>
          <a:p>
            <a:pPr>
              <a:lnSpc>
                <a:spcPct val="110000"/>
              </a:lnSpc>
              <a:buNone/>
            </a:pPr>
            <a:r>
              <a:rPr lang="en-US" sz="2400" dirty="0">
                <a:solidFill>
                  <a:srgbClr val="001080"/>
                </a:solidFill>
                <a:latin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cs typeface="Consolas" panose="020B0609020204030204" pitchFamily="49" charset="0"/>
              </a:rPr>
              <a:t>s</a:t>
            </a:r>
            <a:r>
              <a:rPr lang="en-US" sz="2400" b="0" dirty="0" err="1">
                <a:solidFill>
                  <a:srgbClr val="001080"/>
                </a:solidFill>
                <a:effectLst/>
                <a:latin typeface="Consolas" panose="020B0609020204030204" pitchFamily="49" charset="0"/>
                <a:cs typeface="Consolas" panose="020B0609020204030204" pitchFamily="49" charset="0"/>
              </a:rPr>
              <a:t>tudentName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StudentName</a:t>
            </a:r>
            <a:r>
              <a:rPr lang="en-US" sz="2400" b="0" dirty="0">
                <a:solidFill>
                  <a:srgbClr val="3B3B3B"/>
                </a:solidFill>
                <a:effectLst/>
                <a:latin typeface="Consolas" panose="020B0609020204030204" pitchFamily="49" charset="0"/>
                <a:cs typeface="Consolas" panose="020B0609020204030204" pitchFamily="49" charset="0"/>
              </a:rPr>
              <a:t> };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Course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string</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CourseGrade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1080"/>
                </a:solidFill>
                <a:effectLst/>
                <a:latin typeface="Consolas" panose="020B0609020204030204" pitchFamily="49" charset="0"/>
                <a:cs typeface="Consolas" panose="020B0609020204030204" pitchFamily="49" charset="0"/>
              </a:rPr>
              <a:t>course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Course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1080"/>
                </a:solidFill>
                <a:effectLst/>
                <a:latin typeface="Consolas" panose="020B0609020204030204" pitchFamily="49" charset="0"/>
                <a:cs typeface="Consolas" panose="020B0609020204030204" pitchFamily="49" charset="0"/>
              </a:rPr>
              <a:t>grade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Transcript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1080"/>
                </a:solidFill>
                <a:effectLst/>
                <a:latin typeface="Consolas" panose="020B0609020204030204" pitchFamily="49" charset="0"/>
                <a:cs typeface="Consolas" panose="020B0609020204030204" pitchFamily="49" charset="0"/>
              </a:rPr>
              <a:t>student</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Student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1080"/>
                </a:solidFill>
                <a:effectLst/>
                <a:latin typeface="Consolas" panose="020B0609020204030204" pitchFamily="49" charset="0"/>
                <a:cs typeface="Consolas" panose="020B0609020204030204" pitchFamily="49" charset="0"/>
              </a:rPr>
              <a:t>grades</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CourseGrade</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StudentName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string</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pPr>
            <a:endParaRPr lang="en-US" sz="2400" b="0" dirty="0">
              <a:solidFill>
                <a:srgbClr val="3B3B3B"/>
              </a:solidFill>
              <a:effectLst/>
              <a:latin typeface="Consolas" panose="020B0609020204030204" pitchFamily="49" charset="0"/>
              <a:cs typeface="Consolas" panose="020B0609020204030204" pitchFamily="49" charset="0"/>
            </a:endParaRPr>
          </a:p>
        </p:txBody>
      </p:sp>
      <p:sp>
        <p:nvSpPr>
          <p:cNvPr id="5" name="Rectangle: Rounded Corners 4">
            <a:extLst>
              <a:ext uri="{FF2B5EF4-FFF2-40B4-BE49-F238E27FC236}">
                <a16:creationId xmlns:a16="http://schemas.microsoft.com/office/drawing/2014/main" id="{F120114A-7648-FBB9-ED18-80A41D499025}"/>
              </a:ext>
            </a:extLst>
          </p:cNvPr>
          <p:cNvSpPr/>
          <p:nvPr/>
        </p:nvSpPr>
        <p:spPr>
          <a:xfrm>
            <a:off x="9047921" y="1868557"/>
            <a:ext cx="1868557"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types.ts</a:t>
            </a:r>
            <a:endParaRPr lang="en-US" sz="2400" dirty="0">
              <a:solidFill>
                <a:schemeClr val="tx1"/>
              </a:solidFill>
            </a:endParaRPr>
          </a:p>
        </p:txBody>
      </p:sp>
    </p:spTree>
    <p:extLst>
      <p:ext uri="{BB962C8B-B14F-4D97-AF65-F5344CB8AC3E}">
        <p14:creationId xmlns:p14="http://schemas.microsoft.com/office/powerpoint/2010/main" val="2366229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normAutofit/>
          </a:bodyPr>
          <a:lstStyle/>
          <a:p>
            <a:r>
              <a:rPr lang="en-US" sz="3600" dirty="0"/>
              <a:t>The tiniest introduction to </a:t>
            </a:r>
            <a:r>
              <a:rPr lang="en-US" sz="3600" dirty="0" err="1"/>
              <a:t>Vitest</a:t>
            </a:r>
            <a:endParaRPr lang="en-US" sz="3600" dirty="0"/>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types.spec.ts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types.ts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bryn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'Bronwyn'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'the Student type'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795E26"/>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name'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Jazzhands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will fail</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TextBox 4">
            <a:extLst>
              <a:ext uri="{FF2B5EF4-FFF2-40B4-BE49-F238E27FC236}">
                <a16:creationId xmlns:a16="http://schemas.microsoft.com/office/drawing/2014/main" id="{0E5E2408-5919-913C-0642-027A8483122E}"/>
              </a:ext>
            </a:extLst>
          </p:cNvPr>
          <p:cNvSpPr txBox="1"/>
          <p:nvPr/>
        </p:nvSpPr>
        <p:spPr>
          <a:xfrm>
            <a:off x="6763871" y="7933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776921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lstStyle/>
          <a:p>
            <a:r>
              <a:rPr lang="en-US" dirty="0"/>
              <a:t>You can run tests from the command line</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npx</a:t>
            </a: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vitest</a:t>
            </a:r>
            <a:r>
              <a:rPr lang="en-US" sz="1200" dirty="0">
                <a:solidFill>
                  <a:srgbClr val="000000"/>
                </a:solidFill>
                <a:effectLst/>
                <a:latin typeface="Consolas" panose="020B0609020204030204" pitchFamily="49" charset="0"/>
                <a:cs typeface="Consolas" panose="020B0609020204030204" pitchFamily="49" charset="0"/>
              </a:rPr>
              <a:t> --run </a:t>
            </a:r>
            <a:r>
              <a:rPr lang="en-US" sz="1200" dirty="0" err="1">
                <a:solidFill>
                  <a:srgbClr val="000000"/>
                </a:solidFill>
                <a:effectLst/>
                <a:latin typeface="Consolas" panose="020B0609020204030204" pitchFamily="49" charset="0"/>
                <a:cs typeface="Consolas" panose="020B0609020204030204" pitchFamily="49" charset="0"/>
              </a:rPr>
              <a:t>src</a:t>
            </a:r>
            <a:r>
              <a:rPr lang="en-US" sz="1200" dirty="0">
                <a:solidFill>
                  <a:srgbClr val="000000"/>
                </a:solidFill>
                <a:effectLst/>
                <a:latin typeface="Consolas" panose="020B0609020204030204" pitchFamily="49" charset="0"/>
                <a:cs typeface="Consolas" panose="020B0609020204030204" pitchFamily="49" charset="0"/>
              </a:rPr>
              <a:t>/</a:t>
            </a:r>
            <a:r>
              <a:rPr lang="en-US" sz="1200" dirty="0" err="1">
                <a:solidFill>
                  <a:srgbClr val="000000"/>
                </a:solidFill>
                <a:effectLst/>
                <a:latin typeface="Consolas" panose="020B0609020204030204" pitchFamily="49" charset="0"/>
                <a:cs typeface="Consolas" panose="020B0609020204030204" pitchFamily="49" charset="0"/>
              </a:rPr>
              <a:t>types.spec.ts</a:t>
            </a:r>
            <a:endParaRPr lang="en-US" sz="1200" dirty="0">
              <a:solidFill>
                <a:srgbClr val="000000"/>
              </a:solidFill>
              <a:effectLst/>
              <a:latin typeface="Consolas" panose="020B0609020204030204" pitchFamily="49" charset="0"/>
              <a:cs typeface="Consolas" panose="020B0609020204030204" pitchFamily="49" charset="0"/>
            </a:endParaRPr>
          </a:p>
          <a:p>
            <a:pPr>
              <a:buNone/>
            </a:pPr>
            <a:endParaRPr lang="en-US" sz="1200" dirty="0">
              <a:solidFill>
                <a:srgbClr val="000000"/>
              </a:solidFill>
              <a:effectLst/>
              <a:latin typeface="Consolas" panose="020B0609020204030204" pitchFamily="49" charset="0"/>
              <a:cs typeface="Consolas" panose="020B0609020204030204" pitchFamily="49" charset="0"/>
            </a:endParaRPr>
          </a:p>
          <a:p>
            <a:pPr>
              <a:buNone/>
            </a:pP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chemeClr val="bg1"/>
                </a:solidFill>
                <a:highlight>
                  <a:srgbClr val="0000FF"/>
                </a:highlight>
                <a:latin typeface="Consolas" panose="020B0609020204030204" pitchFamily="49" charset="0"/>
                <a:cs typeface="Consolas" panose="020B0609020204030204" pitchFamily="49" charset="0"/>
              </a:rPr>
              <a:t>RUN</a:t>
            </a: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rgbClr val="000000"/>
                </a:solidFill>
                <a:latin typeface="Consolas" panose="020B0609020204030204" pitchFamily="49" charset="0"/>
                <a:cs typeface="Consolas" panose="020B0609020204030204" pitchFamily="49" charset="0"/>
              </a:rPr>
              <a:t> </a:t>
            </a:r>
            <a:r>
              <a:rPr lang="en-US" sz="1200" dirty="0">
                <a:solidFill>
                  <a:srgbClr val="0070C0"/>
                </a:solidFill>
                <a:latin typeface="Consolas" panose="020B0609020204030204" pitchFamily="49" charset="0"/>
                <a:cs typeface="Consolas" panose="020B0609020204030204" pitchFamily="49" charset="0"/>
              </a:rPr>
              <a:t>v4.0.16</a:t>
            </a:r>
            <a:r>
              <a:rPr lang="en-US" sz="1200" dirty="0">
                <a:solidFill>
                  <a:srgbClr val="000000"/>
                </a:solidFill>
                <a:latin typeface="Consolas" panose="020B0609020204030204" pitchFamily="49" charset="0"/>
                <a:cs typeface="Consolas" panose="020B0609020204030204" pitchFamily="49" charset="0"/>
              </a:rPr>
              <a:t> /Users/</a:t>
            </a:r>
            <a:r>
              <a:rPr lang="en-US" sz="1200" dirty="0" err="1">
                <a:solidFill>
                  <a:srgbClr val="000000"/>
                </a:solidFill>
                <a:latin typeface="Consolas" panose="020B0609020204030204" pitchFamily="49" charset="0"/>
                <a:cs typeface="Consolas" panose="020B0609020204030204" pitchFamily="49" charset="0"/>
              </a:rPr>
              <a:t>rjsimmon</a:t>
            </a:r>
            <a:r>
              <a:rPr lang="en-US" sz="1200" dirty="0">
                <a:solidFill>
                  <a:srgbClr val="000000"/>
                </a:solidFill>
                <a:latin typeface="Consolas" panose="020B0609020204030204" pitchFamily="49" charset="0"/>
                <a:cs typeface="Consolas" panose="020B0609020204030204" pitchFamily="49" charset="0"/>
              </a:rPr>
              <a:t>/r/transcript-server</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(2 tests | </a:t>
            </a:r>
            <a:r>
              <a:rPr lang="en-US" sz="1200" dirty="0">
                <a:solidFill>
                  <a:srgbClr val="C00000"/>
                </a:solidFill>
                <a:latin typeface="Consolas" panose="020B0609020204030204" pitchFamily="49" charset="0"/>
                <a:cs typeface="Consolas" panose="020B0609020204030204" pitchFamily="49" charset="0"/>
              </a:rPr>
              <a:t>1 failed</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4</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the Student type </a:t>
            </a:r>
            <a:r>
              <a:rPr lang="en-US" sz="1200" dirty="0">
                <a:solidFill>
                  <a:schemeClr val="bg1">
                    <a:lumMod val="50000"/>
                  </a:schemeClr>
                </a:solidFill>
                <a:latin typeface="Consolas" panose="020B0609020204030204" pitchFamily="49" charset="0"/>
                <a:cs typeface="Consolas" panose="020B0609020204030204" pitchFamily="49" charset="0"/>
              </a:rPr>
              <a:t>(2)</a:t>
            </a:r>
          </a:p>
          <a:p>
            <a:pPr>
              <a:buNone/>
            </a:pPr>
            <a:r>
              <a:rPr lang="en-US" sz="1200" dirty="0">
                <a:solidFill>
                  <a:srgbClr val="000000"/>
                </a:solidFill>
                <a:latin typeface="Consolas" panose="020B0609020204030204" pitchFamily="49" charset="0"/>
                <a:cs typeface="Consolas" panose="020B0609020204030204" pitchFamily="49" charset="0"/>
              </a:rPr>
              <a:t>     ✓ should allow extraction of id 1</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 should allow extraction of name </a:t>
            </a:r>
            <a:r>
              <a:rPr lang="en-US" sz="1200" dirty="0">
                <a:solidFill>
                  <a:srgbClr val="000000"/>
                </a:solidFill>
                <a:latin typeface="Consolas" panose="020B0609020204030204" pitchFamily="49" charset="0"/>
                <a:cs typeface="Consolas" panose="020B0609020204030204" pitchFamily="49" charset="0"/>
              </a:rPr>
              <a:t>3</a:t>
            </a:r>
            <a:r>
              <a:rPr lang="en-US" sz="1200" dirty="0">
                <a:solidFill>
                  <a:srgbClr val="0070C0"/>
                </a:solidFill>
                <a:latin typeface="Consolas" panose="020B0609020204030204" pitchFamily="49" charset="0"/>
                <a:cs typeface="Consolas" panose="020B0609020204030204" pitchFamily="49" charset="0"/>
              </a:rPr>
              <a:t>ms</a:t>
            </a:r>
          </a:p>
          <a:p>
            <a:pPr>
              <a:buNone/>
            </a:pPr>
            <a:endParaRPr lang="en-US" sz="1200" dirty="0">
              <a:solidFill>
                <a:srgbClr val="C00000"/>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Failed Tests 1</a:t>
            </a:r>
            <a:r>
              <a:rPr lang="en-US" sz="1200" b="1"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&gt; the Student type &gt; should allow extraction of name</a:t>
            </a:r>
          </a:p>
          <a:p>
            <a:pPr>
              <a:buNone/>
            </a:pPr>
            <a:r>
              <a:rPr lang="en-US" sz="1200" b="1" dirty="0" err="1">
                <a:solidFill>
                  <a:srgbClr val="C00000"/>
                </a:solidFill>
                <a:latin typeface="Consolas" panose="020B0609020204030204" pitchFamily="49" charset="0"/>
                <a:cs typeface="Consolas" panose="020B0609020204030204" pitchFamily="49" charset="0"/>
              </a:rPr>
              <a:t>AssertionError</a:t>
            </a:r>
            <a:r>
              <a:rPr lang="en-US" sz="1200" dirty="0">
                <a:solidFill>
                  <a:srgbClr val="C00000"/>
                </a:solidFill>
                <a:latin typeface="Consolas" panose="020B0609020204030204" pitchFamily="49" charset="0"/>
                <a:cs typeface="Consolas" panose="020B0609020204030204" pitchFamily="49" charset="0"/>
              </a:rPr>
              <a:t>: expected 'Bronwyn' to deeply equal '</a:t>
            </a:r>
            <a:r>
              <a:rPr lang="en-US" sz="1200" dirty="0" err="1">
                <a:solidFill>
                  <a:srgbClr val="C00000"/>
                </a:solidFill>
                <a:latin typeface="Consolas" panose="020B0609020204030204" pitchFamily="49" charset="0"/>
                <a:cs typeface="Consolas" panose="020B0609020204030204" pitchFamily="49" charset="0"/>
              </a:rPr>
              <a:t>Jazzhands</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Expected: </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Received: </a:t>
            </a:r>
            <a:r>
              <a:rPr lang="en-US" sz="1200" dirty="0">
                <a:solidFill>
                  <a:srgbClr val="C00000"/>
                </a:solidFill>
                <a:latin typeface="Consolas" panose="020B0609020204030204" pitchFamily="49" charset="0"/>
                <a:cs typeface="Consolas" panose="020B0609020204030204" pitchFamily="49" charset="0"/>
              </a:rPr>
              <a:t>"Bronwyn"</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src</a:t>
            </a:r>
            <a:r>
              <a:rPr lang="en-US" sz="1200" dirty="0">
                <a:solidFill>
                  <a:srgbClr val="0070C0"/>
                </a:solidFill>
                <a:latin typeface="Consolas" panose="020B0609020204030204" pitchFamily="49" charset="0"/>
                <a:cs typeface="Consolas" panose="020B0609020204030204" pitchFamily="49" charset="0"/>
              </a:rPr>
              <a:t>/types.spec.ts:13:30</a:t>
            </a:r>
          </a:p>
          <a:p>
            <a:pPr>
              <a:buNone/>
            </a:pPr>
            <a:r>
              <a:rPr lang="en-US" sz="1200" dirty="0">
                <a:solidFill>
                  <a:srgbClr val="000000"/>
                </a:solidFill>
                <a:latin typeface="Consolas" panose="020B0609020204030204" pitchFamily="49" charset="0"/>
                <a:cs typeface="Consolas" panose="020B0609020204030204" pitchFamily="49" charset="0"/>
              </a:rPr>
              <a:t>     11|   it(</a:t>
            </a:r>
            <a:r>
              <a:rPr lang="en-US" sz="1200" dirty="0">
                <a:solidFill>
                  <a:schemeClr val="accent6">
                    <a:lumMod val="75000"/>
                  </a:schemeClr>
                </a:solidFill>
                <a:latin typeface="Consolas" panose="020B0609020204030204" pitchFamily="49" charset="0"/>
                <a:cs typeface="Consolas" panose="020B0609020204030204" pitchFamily="49" charset="0"/>
              </a:rPr>
              <a:t>'should allow extraction of name'</a:t>
            </a:r>
            <a:r>
              <a:rPr lang="en-US" sz="1200" dirty="0">
                <a:solidFill>
                  <a:srgbClr val="000000"/>
                </a:solidFill>
                <a:latin typeface="Consolas" panose="020B0609020204030204" pitchFamily="49" charset="0"/>
                <a:cs typeface="Consolas" panose="020B0609020204030204" pitchFamily="49" charset="0"/>
              </a:rPr>
              <a:t>, () =&gt; {</a:t>
            </a:r>
          </a:p>
          <a:p>
            <a:pPr>
              <a:buNone/>
            </a:pPr>
            <a:r>
              <a:rPr lang="en-US" sz="1200" dirty="0">
                <a:solidFill>
                  <a:srgbClr val="000000"/>
                </a:solidFill>
                <a:latin typeface="Consolas" panose="020B0609020204030204" pitchFamily="49" charset="0"/>
                <a:cs typeface="Consolas" panose="020B0609020204030204" pitchFamily="49" charset="0"/>
              </a:rPr>
              <a:t>     12|     expect(</a:t>
            </a:r>
            <a:r>
              <a:rPr lang="en-US" sz="1200" dirty="0" err="1">
                <a:solidFill>
                  <a:srgbClr val="000000"/>
                </a:solidFill>
                <a:latin typeface="Consolas" panose="020B0609020204030204" pitchFamily="49" charset="0"/>
                <a:cs typeface="Consolas" panose="020B0609020204030204" pitchFamily="49" charset="0"/>
              </a:rPr>
              <a:t>alvin.studentName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'Alvin'</a:t>
            </a:r>
            <a:r>
              <a:rPr lang="en-US" sz="1200" dirty="0">
                <a:solidFill>
                  <a:srgbClr val="000000"/>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     13|     expect(</a:t>
            </a:r>
            <a:r>
              <a:rPr lang="en-US" sz="1200" dirty="0" err="1">
                <a:solidFill>
                  <a:srgbClr val="000000"/>
                </a:solidFill>
                <a:latin typeface="Consolas" panose="020B0609020204030204" pitchFamily="49" charset="0"/>
                <a:cs typeface="Consolas" panose="020B0609020204030204" pitchFamily="49" charset="0"/>
              </a:rPr>
              <a:t>bryn.studentName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 will fail</a:t>
            </a:r>
          </a:p>
          <a:p>
            <a:pPr>
              <a:buNone/>
            </a:pPr>
            <a:r>
              <a:rPr lang="en-US" sz="1200" dirty="0">
                <a:solidFill>
                  <a:srgbClr val="000000"/>
                </a:solidFill>
                <a:latin typeface="Consolas" panose="020B0609020204030204" pitchFamily="49" charset="0"/>
                <a:cs typeface="Consolas" panose="020B0609020204030204" pitchFamily="49" charset="0"/>
              </a:rPr>
              <a:t>       |                              ^</a:t>
            </a:r>
          </a:p>
          <a:p>
            <a:pPr>
              <a:buNone/>
            </a:pPr>
            <a:r>
              <a:rPr lang="en-US" sz="1200" dirty="0">
                <a:solidFill>
                  <a:srgbClr val="000000"/>
                </a:solidFill>
                <a:latin typeface="Consolas" panose="020B0609020204030204" pitchFamily="49" charset="0"/>
                <a:cs typeface="Consolas" panose="020B0609020204030204" pitchFamily="49" charset="0"/>
              </a:rPr>
              <a:t>     14|   });</a:t>
            </a:r>
          </a:p>
          <a:p>
            <a:pPr>
              <a:buNone/>
            </a:pPr>
            <a:r>
              <a:rPr lang="en-US" sz="1200" dirty="0">
                <a:solidFill>
                  <a:srgbClr val="000000"/>
                </a:solidFill>
                <a:latin typeface="Consolas" panose="020B0609020204030204" pitchFamily="49" charset="0"/>
                <a:cs typeface="Consolas" panose="020B0609020204030204" pitchFamily="49" charset="0"/>
              </a:rPr>
              <a:t>     15| });</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 Files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(1)</a:t>
            </a: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Tests</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chemeClr val="accent6">
                    <a:lumMod val="75000"/>
                  </a:schemeClr>
                </a:solidFill>
                <a:latin typeface="Consolas" panose="020B0609020204030204" pitchFamily="49" charset="0"/>
                <a:cs typeface="Consolas" panose="020B0609020204030204" pitchFamily="49" charset="0"/>
              </a:rPr>
              <a:t>1 passed</a:t>
            </a:r>
            <a:r>
              <a:rPr lang="en-US" sz="1200" dirty="0">
                <a:solidFill>
                  <a:srgbClr val="000000"/>
                </a:solidFill>
                <a:latin typeface="Consolas" panose="020B0609020204030204" pitchFamily="49" charset="0"/>
                <a:cs typeface="Consolas" panose="020B0609020204030204" pitchFamily="49" charset="0"/>
              </a:rPr>
              <a:t> (2)</a:t>
            </a:r>
            <a:endParaRPr lang="en-US" sz="1200" dirty="0">
              <a:solidFill>
                <a:srgbClr val="999999"/>
              </a:solidFill>
              <a:effectLst/>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AADCB67F-8FD6-19F0-035C-565CDB41D5FB}"/>
              </a:ext>
            </a:extLst>
          </p:cNvPr>
          <p:cNvSpPr/>
          <p:nvPr/>
        </p:nvSpPr>
        <p:spPr>
          <a:xfrm>
            <a:off x="7759927" y="4161436"/>
            <a:ext cx="3688004" cy="138678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or better yet, use an </a:t>
            </a:r>
            <a:r>
              <a:rPr lang="en-US" sz="2800" dirty="0" err="1">
                <a:solidFill>
                  <a:schemeClr val="tx1"/>
                </a:solidFill>
              </a:rPr>
              <a:t>npm</a:t>
            </a:r>
            <a:r>
              <a:rPr lang="en-US" sz="2800" dirty="0">
                <a:solidFill>
                  <a:schemeClr val="tx1"/>
                </a:solidFill>
              </a:rPr>
              <a:t> script to automate this…</a:t>
            </a:r>
          </a:p>
        </p:txBody>
      </p:sp>
    </p:spTree>
    <p:extLst>
      <p:ext uri="{BB962C8B-B14F-4D97-AF65-F5344CB8AC3E}">
        <p14:creationId xmlns:p14="http://schemas.microsoft.com/office/powerpoint/2010/main" val="2390055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normAutofit/>
          </a:bodyPr>
          <a:lstStyle/>
          <a:p>
            <a:r>
              <a:rPr lang="en-US" sz="3600" dirty="0"/>
              <a:t>Now we can start writing tests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transcript.service.spec.ts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transcript.service</a:t>
            </a:r>
            <a:r>
              <a:rPr lang="en-US" b="0" dirty="0" err="1">
                <a:solidFill>
                  <a:srgbClr val="A31515"/>
                </a:solidFill>
                <a:effectLst/>
                <a:latin typeface="Consolas" panose="020B0609020204030204" pitchFamily="49" charset="0"/>
                <a:cs typeface="Consolas" panose="020B0609020204030204" pitchFamily="49" charset="0"/>
              </a:rPr>
              <a:t>.ts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normAutofit/>
          </a:bodyPr>
          <a:lstStyle/>
          <a:p>
            <a:r>
              <a:rPr lang="en-US" sz="3600" dirty="0"/>
              <a:t>Most tests are written in AAA Pattern:</a:t>
            </a:r>
            <a:br>
              <a:rPr lang="en-US" sz="3600" dirty="0"/>
            </a:br>
            <a:r>
              <a:rPr lang="en-US" sz="3600" dirty="0"/>
              <a:t>Assemble/Act/Assess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0000FF"/>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0000FF"/>
              </a:solidFill>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normAutofit/>
          </a:bodyPr>
          <a:lstStyle/>
          <a:p>
            <a:r>
              <a:rPr lang="en-US" sz="3600" dirty="0"/>
              <a:t>Turn each testable behavior into one or more tests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0308244" cy="491307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describe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addStudent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 </a:t>
            </a:r>
            <a:r>
              <a:rPr lang="en-US" sz="2200" b="0" dirty="0">
                <a:solidFill>
                  <a:srgbClr val="0000FF"/>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200" b="0" dirty="0">
                <a:solidFill>
                  <a:srgbClr val="795E26"/>
                </a:solidFill>
                <a:effectLst/>
                <a:latin typeface="Consolas" panose="020B0609020204030204" pitchFamily="49" charset="0"/>
                <a:cs typeface="Consolas" panose="020B0609020204030204" pitchFamily="49" charset="0"/>
              </a:rPr>
              <a:t>  it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‘should return an ID distinct from any ID in the database'</a:t>
            </a:r>
            <a:r>
              <a:rPr lang="en-US" sz="2200" b="0" dirty="0">
                <a:solidFill>
                  <a:srgbClr val="3B3B3B"/>
                </a:solidFill>
                <a:effectLst/>
                <a:latin typeface="Consolas" panose="020B0609020204030204" pitchFamily="49" charset="0"/>
                <a:cs typeface="Consolas" panose="020B0609020204030204" pitchFamily="49" charset="0"/>
              </a:rPr>
              <a:t>, () </a:t>
            </a:r>
            <a:r>
              <a:rPr lang="en-US" sz="2200" b="0" dirty="0">
                <a:solidFill>
                  <a:srgbClr val="0000FF"/>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endParaRPr lang="en-US" sz="2200"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sz="2200" b="0" dirty="0">
                <a:solidFill>
                  <a:srgbClr val="008000"/>
                </a:solidFill>
                <a:effectLst/>
                <a:latin typeface="Consolas" panose="020B0609020204030204" pitchFamily="49" charset="0"/>
                <a:cs typeface="Consolas" panose="020B0609020204030204" pitchFamily="49" charset="0"/>
              </a:rPr>
              <a:t>    // we'll add 3 students and check to see that their IDs are all different.</a:t>
            </a:r>
            <a:endParaRPr lang="en-US" sz="22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blair</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corey</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'del’</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normAutofit/>
          </a:bodyPr>
          <a:lstStyle/>
          <a:p>
            <a:r>
              <a:rPr lang="en-US" sz="3600" dirty="0"/>
              <a:t>Tests from Testable Behaviors (2)</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0891341" cy="332007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describe</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addStudent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00FF"/>
                </a:solidFill>
                <a:effectLst/>
                <a:latin typeface="Consolas" panose="020B0609020204030204" pitchFamily="49" charset="0"/>
                <a:cs typeface="Consolas" panose="020B0609020204030204" pitchFamily="49" charset="0"/>
              </a:rPr>
              <a:t>=&gt;</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  it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'should permit adding a student w/ same name as an existing student’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00FF"/>
                </a:solidFill>
                <a:effectLst/>
                <a:latin typeface="Consolas" panose="020B0609020204030204" pitchFamily="49" charset="0"/>
                <a:cs typeface="Consolas" panose="020B0609020204030204" pitchFamily="49" charset="0"/>
              </a:rPr>
              <a:t>=&gt;</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0000FF"/>
                </a:solidFill>
                <a:effectLst/>
                <a:latin typeface="Consolas" panose="020B0609020204030204" pitchFamily="49" charset="0"/>
                <a:cs typeface="Consolas" panose="020B0609020204030204" pitchFamily="49" charset="0"/>
              </a:rPr>
              <a:t>    const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70C1"/>
                </a:solidFill>
                <a:effectLst/>
                <a:latin typeface="Consolas" panose="020B0609020204030204" pitchFamily="49" charset="0"/>
                <a:cs typeface="Consolas" panose="020B0609020204030204" pitchFamily="49" charset="0"/>
              </a:rPr>
              <a:t>id1</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001080"/>
                </a:solidFill>
                <a:effectLst/>
                <a:latin typeface="Consolas" panose="020B0609020204030204" pitchFamily="49" charset="0"/>
                <a:cs typeface="Consolas" panose="020B0609020204030204" pitchFamily="49" charset="0"/>
              </a:rPr>
              <a:t>db</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addStudent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blair</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0000FF"/>
                </a:solidFill>
                <a:effectLst/>
                <a:latin typeface="Consolas" panose="020B0609020204030204" pitchFamily="49" charset="0"/>
                <a:cs typeface="Consolas" panose="020B0609020204030204" pitchFamily="49" charset="0"/>
              </a:rPr>
              <a:t>    const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70C1"/>
                </a:solidFill>
                <a:effectLst/>
                <a:latin typeface="Consolas" panose="020B0609020204030204" pitchFamily="49" charset="0"/>
                <a:cs typeface="Consolas" panose="020B0609020204030204" pitchFamily="49" charset="0"/>
              </a:rPr>
              <a:t>id2</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001080"/>
                </a:solidFill>
                <a:effectLst/>
                <a:latin typeface="Consolas" panose="020B0609020204030204" pitchFamily="49" charset="0"/>
                <a:cs typeface="Consolas" panose="020B0609020204030204" pitchFamily="49" charset="0"/>
              </a:rPr>
              <a:t>db</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addStudent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blair</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    expect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0070C1"/>
                </a:solidFill>
                <a:effectLst/>
                <a:latin typeface="Consolas" panose="020B0609020204030204" pitchFamily="49" charset="0"/>
                <a:cs typeface="Consolas" panose="020B0609020204030204" pitchFamily="49" charset="0"/>
              </a:rPr>
              <a:t>id1</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err="1">
                <a:solidFill>
                  <a:srgbClr val="001080"/>
                </a:solidFill>
                <a:effectLst/>
                <a:latin typeface="Consolas" panose="020B0609020204030204" pitchFamily="49" charset="0"/>
                <a:cs typeface="Consolas" panose="020B0609020204030204" pitchFamily="49" charset="0"/>
              </a:rPr>
              <a:t>not</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toEqual</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0070C1"/>
                </a:solidFill>
                <a:effectLst/>
                <a:latin typeface="Consolas" panose="020B0609020204030204" pitchFamily="49" charset="0"/>
                <a:cs typeface="Consolas" panose="020B0609020204030204" pitchFamily="49" charset="0"/>
              </a:rPr>
              <a:t>id2</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from testable behaviors (4)</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8" name="TextBox 7">
            <a:extLst>
              <a:ext uri="{FF2B5EF4-FFF2-40B4-BE49-F238E27FC236}">
                <a16:creationId xmlns:a16="http://schemas.microsoft.com/office/drawing/2014/main" id="{581425FB-CA82-EBC6-463A-2E798621DBF3}"/>
              </a:ext>
            </a:extLst>
          </p:cNvPr>
          <p:cNvSpPr txBox="1"/>
          <p:nvPr/>
        </p:nvSpPr>
        <p:spPr>
          <a:xfrm>
            <a:off x="838200" y="1670087"/>
            <a:ext cx="10515600"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return the right transcript'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a student, getting an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some grades for that student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retrieve the transcript for that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check to see that the retrieved grades are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exactly the ones you added.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10409183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from testable behaviors (5)</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4FD137BF-4C18-08D0-C969-17DD691DFA75}"/>
              </a:ext>
            </a:extLst>
          </p:cNvPr>
          <p:cNvSpPr txBox="1"/>
          <p:nvPr/>
        </p:nvSpPr>
        <p:spPr>
          <a:xfrm>
            <a:off x="944696" y="1802289"/>
            <a:ext cx="932302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throw an error when given a bad ID'</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in an empty database, all IDs are bad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Note: the expression you expect to throw </a:t>
            </a:r>
          </a:p>
          <a:p>
            <a:r>
              <a:rPr lang="en-US" sz="2400" dirty="0">
                <a:solidFill>
                  <a:srgbClr val="008000"/>
                </a:solidFill>
                <a:latin typeface="Consolas" panose="020B0609020204030204" pitchFamily="49" charset="0"/>
              </a:rPr>
              <a:t>      // </a:t>
            </a:r>
            <a:r>
              <a:rPr lang="en-US" sz="2400" b="0" dirty="0">
                <a:solidFill>
                  <a:srgbClr val="008000"/>
                </a:solidFill>
                <a:effectLst/>
                <a:latin typeface="Consolas" panose="020B0609020204030204" pitchFamily="49" charset="0"/>
              </a:rPr>
              <a:t>must be wrapped in a (() =&gt;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getTranscript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toThrowError</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29926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E5570-A104-5A42-4842-1916086662FE}"/>
              </a:ext>
            </a:extLst>
          </p:cNvPr>
          <p:cNvSpPr>
            <a:spLocks noGrp="1"/>
          </p:cNvSpPr>
          <p:nvPr>
            <p:ph type="title"/>
          </p:nvPr>
        </p:nvSpPr>
        <p:spPr/>
        <p:txBody>
          <a:bodyPr>
            <a:normAutofit/>
          </a:bodyPr>
          <a:lstStyle/>
          <a:p>
            <a:r>
              <a:rPr lang="en-US" sz="3600" dirty="0"/>
              <a:t>Now we can write some code</a:t>
            </a:r>
          </a:p>
        </p:txBody>
      </p:sp>
      <p:sp>
        <p:nvSpPr>
          <p:cNvPr id="4" name="Slide Number Placeholder 3">
            <a:extLst>
              <a:ext uri="{FF2B5EF4-FFF2-40B4-BE49-F238E27FC236}">
                <a16:creationId xmlns:a16="http://schemas.microsoft.com/office/drawing/2014/main" id="{E3C3F415-8138-109D-2A07-21772E35CB5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3" name="Rectangle: Rounded Corners 2">
            <a:extLst>
              <a:ext uri="{FF2B5EF4-FFF2-40B4-BE49-F238E27FC236}">
                <a16:creationId xmlns:a16="http://schemas.microsoft.com/office/drawing/2014/main" id="{223BE4B0-190C-2151-33AD-C2DCC3EBCB82}"/>
              </a:ext>
            </a:extLst>
          </p:cNvPr>
          <p:cNvSpPr/>
          <p:nvPr/>
        </p:nvSpPr>
        <p:spPr>
          <a:xfrm>
            <a:off x="8312425" y="278468"/>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
        <p:nvSpPr>
          <p:cNvPr id="7" name="TextBox 6">
            <a:extLst>
              <a:ext uri="{FF2B5EF4-FFF2-40B4-BE49-F238E27FC236}">
                <a16:creationId xmlns:a16="http://schemas.microsoft.com/office/drawing/2014/main" id="{0C474F46-E19B-3FB5-3D07-CB793D2C4FF7}"/>
              </a:ext>
            </a:extLst>
          </p:cNvPr>
          <p:cNvSpPr txBox="1"/>
          <p:nvPr/>
        </p:nvSpPr>
        <p:spPr>
          <a:xfrm>
            <a:off x="2806147" y="2963103"/>
            <a:ext cx="6096000" cy="46589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br>
              <a:rPr lang="en-US" b="0">
                <a:solidFill>
                  <a:srgbClr val="3B3B3B"/>
                </a:solidFill>
                <a:effectLst/>
                <a:latin typeface="Consolas" panose="020B0609020204030204" pitchFamily="49" charset="0"/>
              </a:rPr>
            </a:br>
            <a:endParaRPr lang="en-US" b="0">
              <a:solidFill>
                <a:srgbClr val="3B3B3B"/>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F2CE2228-0D19-269D-585A-8F8C1CBFA706}"/>
              </a:ext>
            </a:extLst>
          </p:cNvPr>
          <p:cNvSpPr txBox="1"/>
          <p:nvPr/>
        </p:nvSpPr>
        <p:spPr>
          <a:xfrm>
            <a:off x="838200" y="1325562"/>
            <a:ext cx="11887200" cy="624786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StudentID</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Student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Course</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CourseGrade</a:t>
            </a:r>
            <a:r>
              <a:rPr lang="en-US" sz="2000" b="0" dirty="0">
                <a:solidFill>
                  <a:srgbClr val="3B3B3B"/>
                </a:solidFill>
                <a:effectLst/>
                <a:latin typeface="Consolas" panose="020B0609020204030204" pitchFamily="49" charset="0"/>
              </a:rPr>
              <a:t>, </a:t>
            </a:r>
          </a:p>
          <a:p>
            <a:pPr>
              <a:buNone/>
            </a:pPr>
            <a:r>
              <a:rPr lang="en-US" sz="2000" dirty="0">
                <a:solidFill>
                  <a:srgbClr val="3B3B3B"/>
                </a:solidFill>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Transcript</a:t>
            </a:r>
            <a:r>
              <a:rPr lang="en-US" sz="2000" dirty="0">
                <a:solidFill>
                  <a:srgbClr val="3B3B3B"/>
                </a:solidFill>
                <a:latin typeface="Consolas" panose="020B0609020204030204" pitchFamily="49" charset="0"/>
              </a:rPr>
              <a:t> </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types.ts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interface</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TranscriptService</a:t>
            </a:r>
            <a:r>
              <a:rPr lang="en-US" sz="2000" b="0" dirty="0">
                <a:solidFill>
                  <a:srgbClr val="3B3B3B"/>
                </a:solidFill>
                <a:effectLst/>
                <a:latin typeface="Consolas" panose="020B0609020204030204" pitchFamily="49" charset="0"/>
              </a:rPr>
              <a:t> { ... }</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TranscriptDB</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TranscriptService</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the list of transcripts in the database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_transcripts</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Transcript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the last assigned student ID</a:t>
            </a:r>
            <a:endParaRPr lang="en-US" sz="2000" b="0" dirty="0">
              <a:solidFill>
                <a:srgbClr val="3B3B3B"/>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@note</a:t>
            </a:r>
            <a:r>
              <a:rPr lang="en-US" sz="2000" b="0" dirty="0">
                <a:solidFill>
                  <a:srgbClr val="008000"/>
                </a:solidFill>
                <a:effectLst/>
                <a:latin typeface="Consolas" panose="020B0609020204030204" pitchFamily="49" charset="0"/>
              </a:rPr>
              <a:t> Assumes </a:t>
            </a:r>
            <a:r>
              <a:rPr lang="en-US" sz="2000" b="0" dirty="0" err="1">
                <a:solidFill>
                  <a:srgbClr val="008000"/>
                </a:solidFill>
                <a:effectLst/>
                <a:latin typeface="Consolas" panose="020B0609020204030204" pitchFamily="49" charset="0"/>
              </a:rPr>
              <a:t>studentID</a:t>
            </a:r>
            <a:r>
              <a:rPr lang="en-US" sz="2000" b="0" dirty="0">
                <a:solidFill>
                  <a:srgbClr val="008000"/>
                </a:solidFill>
                <a:effectLst/>
                <a:latin typeface="Consolas" panose="020B0609020204030204" pitchFamily="49" charset="0"/>
              </a:rPr>
              <a:t> is Number</a:t>
            </a:r>
            <a:endParaRPr lang="en-US" sz="2000" b="0" dirty="0">
              <a:solidFill>
                <a:srgbClr val="3B3B3B"/>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a:t>
            </a:r>
            <a:r>
              <a:rPr lang="en-US" sz="2000" b="0" dirty="0" err="1">
                <a:solidFill>
                  <a:srgbClr val="001080"/>
                </a:solidFill>
                <a:effectLst/>
                <a:latin typeface="Consolas" panose="020B0609020204030204" pitchFamily="49" charset="0"/>
              </a:rPr>
              <a:t>lastID</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 = 0</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constructor</a:t>
            </a:r>
            <a:r>
              <a:rPr lang="en-US" sz="2000" b="0" dirty="0">
                <a:solidFill>
                  <a:srgbClr val="3B3B3B"/>
                </a:solidFill>
                <a:effectLst/>
                <a:latin typeface="Consolas" panose="020B0609020204030204" pitchFamily="49" charset="0"/>
              </a:rPr>
              <a:t>() {</a:t>
            </a:r>
            <a:r>
              <a:rPr lang="en-US" sz="2000" dirty="0">
                <a:solidFill>
                  <a:srgbClr val="3B3B3B"/>
                </a:solidFill>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r>
              <a:rPr lang="en-US" sz="2000" dirty="0">
                <a:solidFill>
                  <a:srgbClr val="008000"/>
                </a:solidFill>
                <a:latin typeface="Consolas" panose="020B0609020204030204" pitchFamily="49" charset="0"/>
              </a:rPr>
              <a:t>  // </a:t>
            </a:r>
            <a:r>
              <a:rPr lang="en-US" sz="2000" dirty="0" err="1">
                <a:solidFill>
                  <a:srgbClr val="008000"/>
                </a:solidFill>
                <a:latin typeface="Consolas" panose="020B0609020204030204" pitchFamily="49" charset="0"/>
              </a:rPr>
              <a:t>etc</a:t>
            </a:r>
            <a:endParaRPr lang="en-US" sz="2000" dirty="0">
              <a:solidFill>
                <a:srgbClr val="3B3B3B"/>
              </a:solidFill>
              <a:latin typeface="Consolas" panose="020B0609020204030204" pitchFamily="49" charset="0"/>
            </a:endParaRPr>
          </a:p>
          <a:p>
            <a:pPr>
              <a:buNone/>
            </a:pP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6086261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1471A-2D40-7646-0ED3-3FB302EF02B0}"/>
              </a:ext>
            </a:extLst>
          </p:cNvPr>
          <p:cNvSpPr>
            <a:spLocks noGrp="1"/>
          </p:cNvSpPr>
          <p:nvPr>
            <p:ph type="title"/>
          </p:nvPr>
        </p:nvSpPr>
        <p:spPr/>
        <p:txBody>
          <a:bodyPr/>
          <a:lstStyle/>
          <a:p>
            <a:r>
              <a:rPr lang="en-US" dirty="0"/>
              <a:t>Code (2)</a:t>
            </a:r>
          </a:p>
        </p:txBody>
      </p:sp>
      <p:sp>
        <p:nvSpPr>
          <p:cNvPr id="4" name="Slide Number Placeholder 3">
            <a:extLst>
              <a:ext uri="{FF2B5EF4-FFF2-40B4-BE49-F238E27FC236}">
                <a16:creationId xmlns:a16="http://schemas.microsoft.com/office/drawing/2014/main" id="{3FF14A2D-31CA-4866-6F17-EFDC4377E827}"/>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6" name="TextBox 5">
            <a:extLst>
              <a:ext uri="{FF2B5EF4-FFF2-40B4-BE49-F238E27FC236}">
                <a16:creationId xmlns:a16="http://schemas.microsoft.com/office/drawing/2014/main" id="{FF22B922-145E-29BD-A99E-6AB5EB987C2D}"/>
              </a:ext>
            </a:extLst>
          </p:cNvPr>
          <p:cNvSpPr txBox="1"/>
          <p:nvPr/>
        </p:nvSpPr>
        <p:spPr>
          <a:xfrm>
            <a:off x="719483" y="1649171"/>
            <a:ext cx="10756900" cy="449353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200" b="0" dirty="0">
                <a:solidFill>
                  <a:srgbClr val="008000"/>
                </a:solidFill>
                <a:effectLst/>
                <a:latin typeface="Consolas" panose="020B0609020204030204" pitchFamily="49" charset="0"/>
              </a:rPr>
              <a:t>/** Adds a new student to the database</a:t>
            </a:r>
            <a:endParaRPr lang="en-US" sz="2200" b="0" dirty="0">
              <a:solidFill>
                <a:srgbClr val="000000"/>
              </a:solidFill>
              <a:effectLst/>
              <a:latin typeface="Consolas" panose="020B0609020204030204" pitchFamily="49" charset="0"/>
            </a:endParaRPr>
          </a:p>
          <a:p>
            <a:pPr>
              <a:buNone/>
            </a:pPr>
            <a:r>
              <a:rPr lang="en-US" sz="2200" dirty="0">
                <a:solidFill>
                  <a:srgbClr val="008000"/>
                </a:solidFill>
                <a:latin typeface="Consolas" panose="020B0609020204030204" pitchFamily="49" charset="0"/>
              </a:rPr>
              <a:t> </a:t>
            </a:r>
            <a:r>
              <a:rPr lang="en-US" sz="2200" b="0" dirty="0">
                <a:solidFill>
                  <a:srgbClr val="008000"/>
                </a:solidFill>
                <a:effectLst/>
                <a:latin typeface="Consolas" panose="020B0609020204030204" pitchFamily="49" charset="0"/>
              </a:rPr>
              <a:t>* </a:t>
            </a:r>
            <a:r>
              <a:rPr lang="en-US" sz="2200" b="0" dirty="0">
                <a:solidFill>
                  <a:srgbClr val="0000FF"/>
                </a:solidFill>
                <a:effectLst/>
                <a:latin typeface="Consolas" panose="020B0609020204030204" pitchFamily="49" charset="0"/>
              </a:rPr>
              <a:t>@param</a:t>
            </a:r>
            <a:r>
              <a:rPr lang="en-US" sz="2200" b="0" dirty="0">
                <a:solidFill>
                  <a:srgbClr val="008000"/>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{string}</a:t>
            </a:r>
            <a:r>
              <a:rPr lang="en-US" sz="2200" b="0" dirty="0">
                <a:solidFill>
                  <a:srgbClr val="008000"/>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newName</a:t>
            </a:r>
            <a:r>
              <a:rPr lang="en-US" sz="2200" b="0" dirty="0">
                <a:solidFill>
                  <a:srgbClr val="008000"/>
                </a:solidFill>
                <a:effectLst/>
                <a:latin typeface="Consolas" panose="020B0609020204030204" pitchFamily="49" charset="0"/>
              </a:rPr>
              <a:t> - the name of the student</a:t>
            </a:r>
            <a:endParaRPr lang="en-US" sz="2200" b="0" dirty="0">
              <a:solidFill>
                <a:srgbClr val="3B3B3B"/>
              </a:solidFill>
              <a:effectLst/>
              <a:latin typeface="Consolas" panose="020B0609020204030204" pitchFamily="49" charset="0"/>
            </a:endParaRPr>
          </a:p>
          <a:p>
            <a:pPr>
              <a:buNone/>
            </a:pPr>
            <a:r>
              <a:rPr lang="en-US" sz="2200" b="0" dirty="0">
                <a:solidFill>
                  <a:srgbClr val="008000"/>
                </a:solidFill>
                <a:effectLst/>
                <a:latin typeface="Consolas" panose="020B0609020204030204" pitchFamily="49" charset="0"/>
              </a:rPr>
              <a:t> * </a:t>
            </a:r>
            <a:r>
              <a:rPr lang="en-US" sz="2200" b="0" dirty="0">
                <a:solidFill>
                  <a:srgbClr val="0000FF"/>
                </a:solidFill>
                <a:effectLst/>
                <a:latin typeface="Consolas" panose="020B0609020204030204" pitchFamily="49" charset="0"/>
              </a:rPr>
              <a:t>@returns</a:t>
            </a:r>
            <a:r>
              <a:rPr lang="en-US" sz="2200" b="0" dirty="0">
                <a:solidFill>
                  <a:srgbClr val="008000"/>
                </a:solidFill>
                <a:effectLst/>
                <a:latin typeface="Consolas" panose="020B0609020204030204" pitchFamily="49" charset="0"/>
              </a:rPr>
              <a:t> </a:t>
            </a:r>
            <a:r>
              <a:rPr lang="en-US" sz="2200" b="0" dirty="0">
                <a:solidFill>
                  <a:srgbClr val="267F99"/>
                </a:solidFill>
                <a:effectLst/>
                <a:latin typeface="Consolas" panose="020B0609020204030204" pitchFamily="49" charset="0"/>
              </a:rPr>
              <a:t>{</a:t>
            </a:r>
            <a:r>
              <a:rPr lang="en-US" sz="2200" b="0" dirty="0" err="1">
                <a:solidFill>
                  <a:srgbClr val="267F99"/>
                </a:solidFill>
                <a:effectLst/>
                <a:latin typeface="Consolas" panose="020B0609020204030204" pitchFamily="49" charset="0"/>
              </a:rPr>
              <a:t>StudentID</a:t>
            </a:r>
            <a:r>
              <a:rPr lang="en-US" sz="2200" b="0" dirty="0">
                <a:solidFill>
                  <a:srgbClr val="267F99"/>
                </a:solidFill>
                <a:effectLst/>
                <a:latin typeface="Consolas" panose="020B0609020204030204" pitchFamily="49" charset="0"/>
              </a:rPr>
              <a:t>}</a:t>
            </a:r>
            <a:r>
              <a:rPr lang="en-US" sz="2200" b="0" dirty="0">
                <a:solidFill>
                  <a:srgbClr val="008000"/>
                </a:solidFill>
                <a:effectLst/>
                <a:latin typeface="Consolas" panose="020B0609020204030204" pitchFamily="49" charset="0"/>
              </a:rPr>
              <a:t> - the newly-assigned ID for the new student</a:t>
            </a:r>
            <a:endParaRPr lang="en-US" sz="2200" b="0" dirty="0">
              <a:solidFill>
                <a:srgbClr val="3B3B3B"/>
              </a:solidFill>
              <a:effectLst/>
              <a:latin typeface="Consolas" panose="020B0609020204030204" pitchFamily="49" charset="0"/>
            </a:endParaRPr>
          </a:p>
          <a:p>
            <a:pPr>
              <a:buNone/>
            </a:pPr>
            <a:r>
              <a:rPr lang="en-US" sz="2200" b="0" dirty="0">
                <a:solidFill>
                  <a:srgbClr val="008000"/>
                </a:solidFill>
                <a:effectLst/>
                <a:latin typeface="Consolas" panose="020B0609020204030204" pitchFamily="49" charset="0"/>
              </a:rPr>
              <a:t> */</a:t>
            </a:r>
            <a:endParaRPr lang="en-US" sz="2200" b="0" dirty="0">
              <a:solidFill>
                <a:srgbClr val="3B3B3B"/>
              </a:solidFill>
              <a:effectLst/>
              <a:latin typeface="Consolas" panose="020B0609020204030204" pitchFamily="49" charset="0"/>
            </a:endParaRPr>
          </a:p>
          <a:p>
            <a:pPr>
              <a:buNone/>
            </a:pPr>
            <a:r>
              <a:rPr lang="en-US" sz="2200" b="0" dirty="0">
                <a:solidFill>
                  <a:srgbClr val="3B3B3B"/>
                </a:solidFill>
                <a:effectLst/>
                <a:latin typeface="Consolas" panose="020B0609020204030204" pitchFamily="49" charset="0"/>
              </a:rPr>
              <a:t>  </a:t>
            </a:r>
            <a:r>
              <a:rPr lang="en-US" sz="2200" b="0" dirty="0" err="1">
                <a:solidFill>
                  <a:srgbClr val="795E26"/>
                </a:solidFill>
                <a:effectLst/>
                <a:latin typeface="Consolas" panose="020B0609020204030204" pitchFamily="49" charset="0"/>
              </a:rPr>
              <a:t>addStudent</a:t>
            </a:r>
            <a:r>
              <a:rPr lang="en-US" sz="2200" b="0" dirty="0">
                <a:solidFill>
                  <a:srgbClr val="3B3B3B"/>
                </a:solidFill>
                <a:effectLst/>
                <a:latin typeface="Consolas" panose="020B0609020204030204" pitchFamily="49" charset="0"/>
              </a:rPr>
              <a:t>(</a:t>
            </a:r>
            <a:r>
              <a:rPr lang="en-US" sz="2200" b="0" dirty="0" err="1">
                <a:solidFill>
                  <a:srgbClr val="001080"/>
                </a:solidFill>
                <a:effectLst/>
                <a:latin typeface="Consolas" panose="020B0609020204030204" pitchFamily="49" charset="0"/>
              </a:rPr>
              <a:t>newName</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string</a:t>
            </a:r>
            <a:r>
              <a:rPr lang="en-US" sz="2200" b="0" dirty="0">
                <a:solidFill>
                  <a:srgbClr val="3B3B3B"/>
                </a:solidFill>
                <a:effectLst/>
                <a:latin typeface="Consolas" panose="020B0609020204030204" pitchFamily="49" charset="0"/>
              </a:rPr>
              <a:t>)</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267F99"/>
                </a:solidFill>
                <a:effectLst/>
                <a:latin typeface="Consolas" panose="020B0609020204030204" pitchFamily="49" charset="0"/>
              </a:rPr>
              <a:t>StudentID</a:t>
            </a:r>
            <a:r>
              <a:rPr lang="en-US" sz="2200" b="0" dirty="0">
                <a:solidFill>
                  <a:srgbClr val="3B3B3B"/>
                </a:solidFill>
                <a:effectLst/>
                <a:latin typeface="Consolas" panose="020B0609020204030204" pitchFamily="49" charset="0"/>
              </a:rPr>
              <a:t> {</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const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 </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this</a:t>
            </a:r>
            <a:r>
              <a:rPr lang="en-US" sz="2200" b="0" dirty="0">
                <a:solidFill>
                  <a:srgbClr val="3B3B3B"/>
                </a:solidFill>
                <a:effectLst/>
                <a:latin typeface="Consolas" panose="020B0609020204030204" pitchFamily="49" charset="0"/>
              </a:rPr>
              <a:t>.</a:t>
            </a:r>
            <a:r>
              <a:rPr lang="en-US" sz="2200" b="0" dirty="0">
                <a:solidFill>
                  <a:srgbClr val="001080"/>
                </a:solidFill>
                <a:effectLst/>
                <a:latin typeface="Consolas" panose="020B0609020204030204" pitchFamily="49" charset="0"/>
              </a:rPr>
              <a:t>_</a:t>
            </a:r>
            <a:r>
              <a:rPr lang="en-US" sz="2200" b="0" dirty="0" err="1">
                <a:solidFill>
                  <a:srgbClr val="001080"/>
                </a:solidFill>
                <a:effectLst/>
                <a:latin typeface="Consolas" panose="020B0609020204030204" pitchFamily="49" charset="0"/>
              </a:rPr>
              <a:t>lastID</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const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newStudent</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Student</a:t>
            </a:r>
            <a:r>
              <a:rPr lang="en-US" sz="2200" b="0" dirty="0">
                <a:solidFill>
                  <a:srgbClr val="3B3B3B"/>
                </a:solidFill>
                <a:effectLst/>
                <a:latin typeface="Consolas" panose="020B0609020204030204" pitchFamily="49" charset="0"/>
              </a:rPr>
              <a:t> </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 </a:t>
            </a:r>
            <a:r>
              <a:rPr lang="en-US" sz="2200" b="0" dirty="0" err="1">
                <a:solidFill>
                  <a:srgbClr val="001080"/>
                </a:solidFill>
                <a:effectLst/>
                <a:latin typeface="Consolas" panose="020B0609020204030204" pitchFamily="49" charset="0"/>
              </a:rPr>
              <a:t>studentID</a:t>
            </a:r>
            <a:r>
              <a:rPr lang="en-US" sz="2200" b="0" dirty="0">
                <a:solidFill>
                  <a:srgbClr val="00108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studentName</a:t>
            </a:r>
            <a:r>
              <a:rPr lang="en-US" sz="2200" b="0" dirty="0">
                <a:solidFill>
                  <a:srgbClr val="00108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newName</a:t>
            </a:r>
            <a:r>
              <a:rPr lang="en-US" sz="2200" b="0" dirty="0">
                <a:solidFill>
                  <a:srgbClr val="3B3B3B"/>
                </a:solidFill>
                <a:effectLst/>
                <a:latin typeface="Consolas" panose="020B0609020204030204" pitchFamily="49" charset="0"/>
              </a:rPr>
              <a:t> };</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this</a:t>
            </a:r>
            <a:r>
              <a:rPr lang="en-US" sz="2200" b="0" dirty="0">
                <a:solidFill>
                  <a:srgbClr val="3B3B3B"/>
                </a:solidFill>
                <a:effectLst/>
                <a:latin typeface="Consolas" panose="020B0609020204030204" pitchFamily="49" charset="0"/>
              </a:rPr>
              <a:t>.</a:t>
            </a:r>
            <a:r>
              <a:rPr lang="en-US" sz="2200" b="0" dirty="0">
                <a:solidFill>
                  <a:srgbClr val="001080"/>
                </a:solidFill>
                <a:effectLst/>
                <a:latin typeface="Consolas" panose="020B0609020204030204" pitchFamily="49" charset="0"/>
              </a:rPr>
              <a:t>_</a:t>
            </a:r>
            <a:r>
              <a:rPr lang="en-US" sz="2200" b="0" dirty="0" err="1">
                <a:solidFill>
                  <a:srgbClr val="001080"/>
                </a:solidFill>
                <a:effectLst/>
                <a:latin typeface="Consolas" panose="020B0609020204030204" pitchFamily="49" charset="0"/>
              </a:rPr>
              <a:t>transcripts</a:t>
            </a:r>
            <a:r>
              <a:rPr lang="en-US" sz="2200" b="0" dirty="0" err="1">
                <a:solidFill>
                  <a:srgbClr val="3B3B3B"/>
                </a:solidFill>
                <a:effectLst/>
                <a:latin typeface="Consolas" panose="020B0609020204030204" pitchFamily="49" charset="0"/>
              </a:rPr>
              <a:t>.</a:t>
            </a:r>
            <a:r>
              <a:rPr lang="en-US" sz="2200" b="0" dirty="0" err="1">
                <a:solidFill>
                  <a:srgbClr val="795E26"/>
                </a:solidFill>
                <a:effectLst/>
                <a:latin typeface="Consolas" panose="020B0609020204030204" pitchFamily="49" charset="0"/>
              </a:rPr>
              <a:t>push</a:t>
            </a:r>
            <a:r>
              <a:rPr lang="en-US" sz="2200" b="0" dirty="0">
                <a:solidFill>
                  <a:srgbClr val="3B3B3B"/>
                </a:solidFill>
                <a:effectLst/>
                <a:latin typeface="Consolas" panose="020B0609020204030204" pitchFamily="49" charset="0"/>
              </a:rPr>
              <a:t>({</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 </a:t>
            </a:r>
            <a:r>
              <a:rPr lang="en-US" sz="2200" b="0" dirty="0">
                <a:solidFill>
                  <a:srgbClr val="001080"/>
                </a:solidFill>
                <a:effectLst/>
                <a:latin typeface="Consolas" panose="020B0609020204030204" pitchFamily="49" charset="0"/>
              </a:rPr>
              <a:t>student: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newStudent</a:t>
            </a:r>
            <a:r>
              <a:rPr lang="en-US" sz="2200" b="0" dirty="0">
                <a:solidFill>
                  <a:srgbClr val="3B3B3B"/>
                </a:solidFill>
                <a:effectLst/>
                <a:latin typeface="Consolas" panose="020B0609020204030204" pitchFamily="49" charset="0"/>
              </a:rPr>
              <a:t>, </a:t>
            </a:r>
            <a:r>
              <a:rPr lang="en-US" sz="2200" b="0" dirty="0">
                <a:solidFill>
                  <a:srgbClr val="001080"/>
                </a:solidFill>
                <a:effectLst/>
                <a:latin typeface="Consolas" panose="020B0609020204030204" pitchFamily="49" charset="0"/>
              </a:rPr>
              <a:t>grades:</a:t>
            </a:r>
            <a:r>
              <a:rPr lang="en-US" sz="2200" b="0" dirty="0">
                <a:solidFill>
                  <a:srgbClr val="3B3B3B"/>
                </a:solidFill>
                <a:effectLst/>
                <a:latin typeface="Consolas" panose="020B0609020204030204" pitchFamily="49" charset="0"/>
              </a:rPr>
              <a:t> [] </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r>
              <a:rPr lang="en-US" sz="2200" b="0" dirty="0">
                <a:solidFill>
                  <a:srgbClr val="AF00DB"/>
                </a:solidFill>
                <a:effectLst/>
                <a:latin typeface="Consolas" panose="020B0609020204030204" pitchFamily="49" charset="0"/>
              </a:rPr>
              <a:t>return</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p>
        </p:txBody>
      </p:sp>
      <p:sp>
        <p:nvSpPr>
          <p:cNvPr id="3" name="Rectangle: Rounded Corners 2">
            <a:extLst>
              <a:ext uri="{FF2B5EF4-FFF2-40B4-BE49-F238E27FC236}">
                <a16:creationId xmlns:a16="http://schemas.microsoft.com/office/drawing/2014/main" id="{E7021BCA-96A0-579A-7B8B-8D981D8B6785}"/>
              </a:ext>
            </a:extLst>
          </p:cNvPr>
          <p:cNvSpPr/>
          <p:nvPr/>
        </p:nvSpPr>
        <p:spPr>
          <a:xfrm>
            <a:off x="7991061" y="323608"/>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Tree>
    <p:extLst>
      <p:ext uri="{BB962C8B-B14F-4D97-AF65-F5344CB8AC3E}">
        <p14:creationId xmlns:p14="http://schemas.microsoft.com/office/powerpoint/2010/main" val="11002943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let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TranscriptService</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beforeAll</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p>
          <a:p>
            <a:pPr>
              <a:lnSpc>
                <a:spcPct val="110000"/>
              </a:lnSpc>
              <a:buNone/>
            </a:pPr>
            <a:r>
              <a:rPr lang="en-US" dirty="0">
                <a:solidFill>
                  <a:srgbClr val="00108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new</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endParaRPr lang="en-US"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beforeEach</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0000"/>
                </a:solidFill>
                <a:latin typeface="Consolas" panose="020B0609020204030204" pitchFamily="49" charset="0"/>
                <a:ea typeface="Menlo" panose="020B0609030804020204" pitchFamily="49" charset="0"/>
                <a:cs typeface="Consolas" panose="020B0609020204030204" pitchFamily="49" charset="0"/>
              </a:rPr>
              <a:t>db.clear</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endParaRPr lang="en-US" b="0" dirty="0">
              <a:solidFill>
                <a:srgbClr val="000000"/>
              </a:solidFill>
              <a:effectLst/>
              <a:latin typeface="Consolas" panose="020B0609020204030204" pitchFamily="49" charset="0"/>
              <a:ea typeface="Menlo" panose="020B0609030804020204" pitchFamily="49" charset="0"/>
              <a:cs typeface="Consolas" panose="020B060902020403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26</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dirty="0"/>
              <a:t>Review: Here is the process we followed</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27</a:t>
            </a:fld>
            <a:endParaRPr lang="en-US"/>
          </a:p>
        </p:txBody>
      </p:sp>
      <p:grpSp>
        <p:nvGrpSpPr>
          <p:cNvPr id="30" name="Group 29">
            <a:extLst>
              <a:ext uri="{FF2B5EF4-FFF2-40B4-BE49-F238E27FC236}">
                <a16:creationId xmlns:a16="http://schemas.microsoft.com/office/drawing/2014/main" id="{EB90D33C-D943-3071-F98E-12788C9CA5ED}"/>
              </a:ext>
            </a:extLst>
          </p:cNvPr>
          <p:cNvGrpSpPr/>
          <p:nvPr/>
        </p:nvGrpSpPr>
        <p:grpSpPr>
          <a:xfrm>
            <a:off x="338536" y="2558828"/>
            <a:ext cx="11321493" cy="3027216"/>
            <a:chOff x="156796" y="2293785"/>
            <a:chExt cx="11321493" cy="3027216"/>
          </a:xfrm>
        </p:grpSpPr>
        <p:grpSp>
          <p:nvGrpSpPr>
            <p:cNvPr id="31" name="Group 30">
              <a:extLst>
                <a:ext uri="{FF2B5EF4-FFF2-40B4-BE49-F238E27FC236}">
                  <a16:creationId xmlns:a16="http://schemas.microsoft.com/office/drawing/2014/main" id="{80212AAC-D7DA-92DF-C09F-5BA7EC317899}"/>
                </a:ext>
              </a:extLst>
            </p:cNvPr>
            <p:cNvGrpSpPr/>
            <p:nvPr/>
          </p:nvGrpSpPr>
          <p:grpSpPr>
            <a:xfrm>
              <a:off x="156796" y="2293785"/>
              <a:ext cx="11321493" cy="2066180"/>
              <a:chOff x="133350" y="1652027"/>
              <a:chExt cx="11321493" cy="1904613"/>
            </a:xfrm>
          </p:grpSpPr>
          <p:sp>
            <p:nvSpPr>
              <p:cNvPr id="38" name="Rectangle: Rounded Corners 37">
                <a:extLst>
                  <a:ext uri="{FF2B5EF4-FFF2-40B4-BE49-F238E27FC236}">
                    <a16:creationId xmlns:a16="http://schemas.microsoft.com/office/drawing/2014/main" id="{CED55445-A580-FFA3-4824-BC6E6983845B}"/>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39" name="Rectangle: Rounded Corners 38">
                <a:extLst>
                  <a:ext uri="{FF2B5EF4-FFF2-40B4-BE49-F238E27FC236}">
                    <a16:creationId xmlns:a16="http://schemas.microsoft.com/office/drawing/2014/main" id="{C0780C4B-3E35-1B27-99AF-6DC782B03554}"/>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40" name="Rectangle: Rounded Corners 39">
                <a:extLst>
                  <a:ext uri="{FF2B5EF4-FFF2-40B4-BE49-F238E27FC236}">
                    <a16:creationId xmlns:a16="http://schemas.microsoft.com/office/drawing/2014/main" id="{473B3F4D-1F15-060A-013E-6560B85980D0}"/>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41" name="Rectangle: Rounded Corners 40">
                <a:extLst>
                  <a:ext uri="{FF2B5EF4-FFF2-40B4-BE49-F238E27FC236}">
                    <a16:creationId xmlns:a16="http://schemas.microsoft.com/office/drawing/2014/main" id="{AFE5DDF0-3060-5EFE-DB77-6210B5A33D15}"/>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42" name="Isosceles Triangle 41">
                <a:extLst>
                  <a:ext uri="{FF2B5EF4-FFF2-40B4-BE49-F238E27FC236}">
                    <a16:creationId xmlns:a16="http://schemas.microsoft.com/office/drawing/2014/main" id="{F6CE26C2-1BA8-6FED-E5AF-776CD77971E1}"/>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3" name="Isosceles Triangle 42">
                <a:extLst>
                  <a:ext uri="{FF2B5EF4-FFF2-40B4-BE49-F238E27FC236}">
                    <a16:creationId xmlns:a16="http://schemas.microsoft.com/office/drawing/2014/main" id="{F424BC87-590D-697A-5E4F-BCA53EDF863D}"/>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4" name="Isosceles Triangle 43">
                <a:extLst>
                  <a:ext uri="{FF2B5EF4-FFF2-40B4-BE49-F238E27FC236}">
                    <a16:creationId xmlns:a16="http://schemas.microsoft.com/office/drawing/2014/main" id="{5A694676-DB97-195E-9257-5A95073A7811}"/>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5" name="TextBox 44">
                <a:extLst>
                  <a:ext uri="{FF2B5EF4-FFF2-40B4-BE49-F238E27FC236}">
                    <a16:creationId xmlns:a16="http://schemas.microsoft.com/office/drawing/2014/main" id="{9446D8B3-7859-B4B9-BA3B-4895A76B0F75}"/>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46" name="TextBox 45">
                <a:extLst>
                  <a:ext uri="{FF2B5EF4-FFF2-40B4-BE49-F238E27FC236}">
                    <a16:creationId xmlns:a16="http://schemas.microsoft.com/office/drawing/2014/main" id="{DE48CFFE-705E-1967-2BE7-89B59E8D4639}"/>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47" name="TextBox 46">
                <a:extLst>
                  <a:ext uri="{FF2B5EF4-FFF2-40B4-BE49-F238E27FC236}">
                    <a16:creationId xmlns:a16="http://schemas.microsoft.com/office/drawing/2014/main" id="{9AC6A107-8B5C-3D12-2F35-6CA3A9044AA7}"/>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32" name="Group 31">
              <a:extLst>
                <a:ext uri="{FF2B5EF4-FFF2-40B4-BE49-F238E27FC236}">
                  <a16:creationId xmlns:a16="http://schemas.microsoft.com/office/drawing/2014/main" id="{6BB664B7-CD90-F793-2BF3-108670B47D67}"/>
                </a:ext>
              </a:extLst>
            </p:cNvPr>
            <p:cNvGrpSpPr/>
            <p:nvPr/>
          </p:nvGrpSpPr>
          <p:grpSpPr>
            <a:xfrm>
              <a:off x="1686135" y="3700308"/>
              <a:ext cx="2190750" cy="1620693"/>
              <a:chOff x="1694164" y="3678445"/>
              <a:chExt cx="2190750" cy="1620693"/>
            </a:xfrm>
          </p:grpSpPr>
          <p:sp>
            <p:nvSpPr>
              <p:cNvPr id="36" name="Isosceles Triangle 35">
                <a:extLst>
                  <a:ext uri="{FF2B5EF4-FFF2-40B4-BE49-F238E27FC236}">
                    <a16:creationId xmlns:a16="http://schemas.microsoft.com/office/drawing/2014/main" id="{E637D264-F57C-B785-F389-E4BFCCC27538}"/>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7" name="TextBox 36">
                <a:extLst>
                  <a:ext uri="{FF2B5EF4-FFF2-40B4-BE49-F238E27FC236}">
                    <a16:creationId xmlns:a16="http://schemas.microsoft.com/office/drawing/2014/main" id="{23E8C8DB-BF77-4508-A4D9-9C0B342649AD}"/>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33" name="Group 32">
              <a:extLst>
                <a:ext uri="{FF2B5EF4-FFF2-40B4-BE49-F238E27FC236}">
                  <a16:creationId xmlns:a16="http://schemas.microsoft.com/office/drawing/2014/main" id="{C69494AE-85CE-B185-6890-9893D4BA4E6B}"/>
                </a:ext>
              </a:extLst>
            </p:cNvPr>
            <p:cNvGrpSpPr/>
            <p:nvPr/>
          </p:nvGrpSpPr>
          <p:grpSpPr>
            <a:xfrm>
              <a:off x="4797844" y="3637260"/>
              <a:ext cx="2190750" cy="1620693"/>
              <a:chOff x="1694164" y="3678445"/>
              <a:chExt cx="2190750" cy="1620693"/>
            </a:xfrm>
          </p:grpSpPr>
          <p:sp>
            <p:nvSpPr>
              <p:cNvPr id="34" name="Isosceles Triangle 33">
                <a:extLst>
                  <a:ext uri="{FF2B5EF4-FFF2-40B4-BE49-F238E27FC236}">
                    <a16:creationId xmlns:a16="http://schemas.microsoft.com/office/drawing/2014/main" id="{57E5625C-D3CD-2275-87F6-FB6C6004696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5" name="TextBox 34">
                <a:extLst>
                  <a:ext uri="{FF2B5EF4-FFF2-40B4-BE49-F238E27FC236}">
                    <a16:creationId xmlns:a16="http://schemas.microsoft.com/office/drawing/2014/main" id="{72B54830-D307-4751-AD05-BA086CD72DA9}"/>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spTree>
    <p:extLst>
      <p:ext uri="{BB962C8B-B14F-4D97-AF65-F5344CB8AC3E}">
        <p14:creationId xmlns:p14="http://schemas.microsoft.com/office/powerpoint/2010/main" val="2698224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A791031-BA3D-EBE8-7CD5-FBCD72D24023}"/>
              </a:ext>
            </a:extLst>
          </p:cNvPr>
          <p:cNvSpPr/>
          <p:nvPr/>
        </p:nvSpPr>
        <p:spPr>
          <a:xfrm>
            <a:off x="313765" y="1665288"/>
            <a:ext cx="11438964" cy="202265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dirty="0"/>
              <a:t>Review: </a:t>
            </a:r>
            <a:r>
              <a:rPr lang="en-US" dirty="0" err="1"/>
              <a:t>CoS</a:t>
            </a:r>
            <a:r>
              <a:rPr lang="en-US" dirty="0"/>
              <a:t> to testable behaviors to TDD</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3890537"/>
            <a:ext cx="8429368" cy="2566333"/>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5" name="Content Placeholder 2">
            <a:extLst>
              <a:ext uri="{FF2B5EF4-FFF2-40B4-BE49-F238E27FC236}">
                <a16:creationId xmlns:a16="http://schemas.microsoft.com/office/drawing/2014/main" id="{ED25EF93-E31D-BF97-CD4C-B6E354FFAA0F}"/>
              </a:ext>
            </a:extLst>
          </p:cNvPr>
          <p:cNvSpPr txBox="1">
            <a:spLocks/>
          </p:cNvSpPr>
          <p:nvPr/>
        </p:nvSpPr>
        <p:spPr>
          <a:xfrm>
            <a:off x="313765" y="1665288"/>
            <a:ext cx="5782235" cy="20226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endParaRPr lang="en-US" dirty="0"/>
          </a:p>
        </p:txBody>
      </p:sp>
      <p:sp>
        <p:nvSpPr>
          <p:cNvPr id="6" name="Content Placeholder 2">
            <a:extLst>
              <a:ext uri="{FF2B5EF4-FFF2-40B4-BE49-F238E27FC236}">
                <a16:creationId xmlns:a16="http://schemas.microsoft.com/office/drawing/2014/main" id="{2B7E7856-FFA9-4A23-A3E0-530E7F7B6573}"/>
              </a:ext>
            </a:extLst>
          </p:cNvPr>
          <p:cNvSpPr txBox="1">
            <a:spLocks/>
          </p:cNvSpPr>
          <p:nvPr/>
        </p:nvSpPr>
        <p:spPr>
          <a:xfrm>
            <a:off x="5834427" y="1665288"/>
            <a:ext cx="5782235" cy="21805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endParaRPr lang="en-US" i="1" dirty="0"/>
          </a:p>
        </p:txBody>
      </p:sp>
      <p:sp>
        <p:nvSpPr>
          <p:cNvPr id="7" name="TextBox 6">
            <a:extLst>
              <a:ext uri="{FF2B5EF4-FFF2-40B4-BE49-F238E27FC236}">
                <a16:creationId xmlns:a16="http://schemas.microsoft.com/office/drawing/2014/main" id="{83F499D7-2037-7DEA-76DD-DFA79044BE0F}"/>
              </a:ext>
            </a:extLst>
          </p:cNvPr>
          <p:cNvSpPr txBox="1"/>
          <p:nvPr/>
        </p:nvSpPr>
        <p:spPr>
          <a:xfrm>
            <a:off x="215153" y="1546412"/>
            <a:ext cx="11537576" cy="21415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23296</TotalTime>
  <Words>3652</Words>
  <Application>Microsoft Office PowerPoint</Application>
  <PresentationFormat>Widescreen</PresentationFormat>
  <Paragraphs>428</Paragraphs>
  <Slides>28</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Verdana</vt:lpstr>
      <vt:lpstr>Ink Free</vt:lpstr>
      <vt:lpstr>Consolas</vt:lpstr>
      <vt:lpstr>Calibri</vt:lpstr>
      <vt:lpstr>Helvetica Neue</vt:lpstr>
      <vt:lpstr>Arial</vt:lpstr>
      <vt:lpstr>Office Theme</vt:lpstr>
      <vt:lpstr>CS 4530: Fundamentals of Software Engineering Module 2.2: Test-Driven Development</vt:lpstr>
      <vt:lpstr>Learning Goals for this Lesson</vt:lpstr>
      <vt:lpstr>Non-Goals for this Lesson</vt:lpstr>
      <vt:lpstr>Test-Driven Development</vt:lpstr>
      <vt:lpstr>Review: User Stories</vt:lpstr>
      <vt:lpstr>Review: Conditions of Satisfaction</vt:lpstr>
      <vt:lpstr>Test Driven Development (TDD)</vt:lpstr>
      <vt:lpstr>The TDD Cycle</vt:lpstr>
      <vt:lpstr>Analyze and Negotiate</vt:lpstr>
      <vt:lpstr>Design and Negotiate</vt:lpstr>
      <vt:lpstr>First negotiation: what are we going to test?</vt:lpstr>
      <vt:lpstr>Analyze/Negotiate: what data do we need to worry about?</vt:lpstr>
      <vt:lpstr>Now we can design the interface we are going to test.</vt:lpstr>
      <vt:lpstr>Analyzing CoS to get testable behaviors</vt:lpstr>
      <vt:lpstr>To run the tests, we'll need to design the data in a little more detail</vt:lpstr>
      <vt:lpstr>The tiniest introduction to Vitest</vt:lpstr>
      <vt:lpstr>You can run tests from the command line</vt:lpstr>
      <vt:lpstr>Now we can start writing tests</vt:lpstr>
      <vt:lpstr>Most tests are written in AAA Pattern: Assemble/Act/Assess</vt:lpstr>
      <vt:lpstr>Turn each testable behavior into one or more tests</vt:lpstr>
      <vt:lpstr>Tests from Testable Behaviors (2)</vt:lpstr>
      <vt:lpstr>Tests from testable behaviors (4)</vt:lpstr>
      <vt:lpstr>Tests from testable behaviors (5)</vt:lpstr>
      <vt:lpstr>Now we can write some code</vt:lpstr>
      <vt:lpstr>Code (2)</vt:lpstr>
      <vt:lpstr>A quick word about cleanup</vt:lpstr>
      <vt:lpstr>Review: Here is the process we followed</vt:lpstr>
      <vt:lpstr>Review: CoS to testable behaviors to TDD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Mitchell Wand</cp:lastModifiedBy>
  <cp:revision>237</cp:revision>
  <dcterms:created xsi:type="dcterms:W3CDTF">2021-01-07T15:19:22Z</dcterms:created>
  <dcterms:modified xsi:type="dcterms:W3CDTF">2026-01-06T02:39:17Z</dcterms:modified>
</cp:coreProperties>
</file>