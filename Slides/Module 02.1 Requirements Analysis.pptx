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485" r:id="rId2"/>
    <p:sldId id="396" r:id="rId3"/>
    <p:sldId id="576" r:id="rId4"/>
    <p:sldId id="555" r:id="rId5"/>
    <p:sldId id="564" r:id="rId6"/>
    <p:sldId id="351" r:id="rId7"/>
    <p:sldId id="531" r:id="rId8"/>
    <p:sldId id="532" r:id="rId9"/>
    <p:sldId id="582" r:id="rId10"/>
    <p:sldId id="602" r:id="rId11"/>
    <p:sldId id="567" r:id="rId12"/>
    <p:sldId id="603" r:id="rId13"/>
    <p:sldId id="556" r:id="rId14"/>
    <p:sldId id="601" r:id="rId15"/>
  </p:sldIdLst>
  <p:sldSz cx="12192000" cy="6858000"/>
  <p:notesSz cx="6858000" cy="9144000"/>
  <p:embeddedFontLst>
    <p:embeddedFont>
      <p:font typeface="Verdana" panose="020B0604030504040204" pitchFamily="34" charset="0"/>
      <p:regular r:id="rId17"/>
      <p:bold r:id="rId18"/>
      <p:italic r:id="rId19"/>
      <p:boldItalic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76"/>
            <p14:sldId id="555"/>
            <p14:sldId id="564"/>
            <p14:sldId id="351"/>
            <p14:sldId id="531"/>
            <p14:sldId id="532"/>
            <p14:sldId id="582"/>
            <p14:sldId id="602"/>
            <p14:sldId id="567"/>
            <p14:sldId id="603"/>
            <p14:sldId id="556"/>
            <p14:sldId id="601"/>
          </p14:sldIdLst>
        </p14:section>
        <p14:section name="Default Section" id="{45C37290-6811-D443-AFE3-5EC2BFB2F1D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03" autoAdjust="0"/>
    <p:restoredTop sz="65714" autoAdjust="0"/>
  </p:normalViewPr>
  <p:slideViewPr>
    <p:cSldViewPr snapToGrid="0">
      <p:cViewPr varScale="1">
        <p:scale>
          <a:sx n="82" d="100"/>
          <a:sy n="82" d="100"/>
        </p:scale>
        <p:origin x="1896" y="16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16B49D51-0857-4A44-AD1A-0C1006418460}" srcId="{7851135E-E593-49EB-9C66-FB8F80DCC8EB}" destId="{0F25331F-8FB8-4E3A-87F2-3F285D74EB32}" srcOrd="2" destOrd="0" parTransId="{324E124D-8500-4C04-A0BA-6F6C2D553D81}" sibTransId="{4716CEE8-C882-4DFA-8AAE-CB3797F9F69F}"/>
    <dgm:cxn modelId="{BBA2886E-1FC2-4FFE-BF42-BABB70DB9D54}" srcId="{ABB0E679-4682-422A-B4B3-34D44CC4C90C}" destId="{79B77230-D940-49CC-AF47-BF1D40797D89}" srcOrd="0" destOrd="0" parTransId="{C50558CC-69DA-4C28-8CB9-2982E9088524}" sibTransId="{01A261DD-4242-4987-8459-53BA826F65E4}"/>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12/30/25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a:t>
            </a:r>
            <a:r>
              <a:rPr lang="en-US" dirty="0" err="1"/>
              <a:t>cass</a:t>
            </a:r>
            <a:r>
              <a:rPr lang="en-US" dirty="0"/>
              <a:t>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endParaRPr lang="en-US" dirty="0"/>
          </a:p>
          <a:p>
            <a:r>
              <a:rPr lang="en-US" dirty="0"/>
              <a:t>Connecting the actual needs of people to user stories is the role of requirements analysis. We’ll discuss Value Sensitive Design specifically, and provide a pointer to more information in course materials.</a:t>
            </a:r>
          </a:p>
          <a:p>
            <a:endParaRPr lang="en-US" dirty="0"/>
          </a:p>
          <a:p>
            <a:r>
              <a:rPr lang="en-US" dirty="0"/>
              <a:t>In the context of requirements analysis, user stories to help us understand and communicate what we’re planning to do — the output of requirements analysis is often a prioritization of user stories. In your project, you’ll propose more than three user stories but then only be responsible for implementing three. You’ll be able to use whatever methodology you want for prioritizing user stories, but that’s not usually the case in the real world!</a:t>
            </a:r>
          </a:p>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94736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E489E-B39A-05BA-EC2E-B555AA53B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02EC99-460D-10A4-73A1-61B872F46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59E-9564-33A6-8B94-B366DE31DFDA}"/>
              </a:ext>
            </a:extLst>
          </p:cNvPr>
          <p:cNvSpPr>
            <a:spLocks noGrp="1"/>
          </p:cNvSpPr>
          <p:nvPr>
            <p:ph type="body" idx="1"/>
          </p:nvPr>
        </p:nvSpPr>
        <p:spPr/>
        <p:txBody>
          <a:bodyPr/>
          <a:lstStyle/>
          <a:p>
            <a:r>
              <a:rPr lang="en-US" dirty="0"/>
              <a:t>.</a:t>
            </a:r>
          </a:p>
        </p:txBody>
      </p:sp>
      <p:sp>
        <p:nvSpPr>
          <p:cNvPr id="4" name="Slide Number Placeholder 3">
            <a:extLst>
              <a:ext uri="{FF2B5EF4-FFF2-40B4-BE49-F238E27FC236}">
                <a16:creationId xmlns:a16="http://schemas.microsoft.com/office/drawing/2014/main" id="{FD59EE5F-ABC6-656D-3DA2-ED662B399DB7}"/>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34779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0FB39-CDB2-9CD9-EC72-D0CAA7B974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0D8AD2-9C77-486C-981B-C085E00FE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96A91-FA39-6F6A-370C-C3438ACBF7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4F87C0-2884-DED3-0016-14956E227704}"/>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7227458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r>
              <a:rPr lang="en-US" dirty="0"/>
              <a:t>The process of VSD includes three kinds of investigations:</a:t>
            </a:r>
          </a:p>
          <a:p>
            <a:pPr marL="171450" indent="-171450">
              <a:buFontTx/>
              <a:buChar char="-"/>
            </a:pPr>
            <a:r>
              <a:rPr lang="en-US" dirty="0"/>
              <a:t>Empirical: This is about understanding how the value works in real life based on observations made in the field or from life experiences.</a:t>
            </a:r>
          </a:p>
          <a:p>
            <a:pPr marL="171450" indent="-171450">
              <a:buFontTx/>
              <a:buChar char="-"/>
            </a:pPr>
            <a:r>
              <a:rPr lang="en-US" dirty="0"/>
              <a:t>Value: Involves identifying stakeholders, thinking about their goals and values and then finally resolving the value tensions arising from conflicting interests of stakeholders.</a:t>
            </a:r>
          </a:p>
          <a:p>
            <a:pPr marL="171450" indent="-171450">
              <a:buFontTx/>
              <a:buChar char="-"/>
            </a:pPr>
            <a:r>
              <a:rPr lang="en-US" dirty="0"/>
              <a:t>Technical: The technical feasibility of implementing the solutions.</a:t>
            </a:r>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illustrates how to use VSD to think about a value like informed consent:</a:t>
            </a:r>
          </a:p>
          <a:p>
            <a:endParaRPr lang="en-US" dirty="0"/>
          </a:p>
          <a:p>
            <a:pPr marL="228600" indent="-228600">
              <a:buAutoNum type="arabicPeriod"/>
            </a:pPr>
            <a:r>
              <a:rPr lang="en-US" dirty="0"/>
              <a:t>Do an empirical investigation which involves understanding the meaning of the value. In this case understanding informed consent hinges on four concepts as outlined. Often to understand a value one will have to collaborate with experts in a field such as sociologists, philosophers, domain experts. </a:t>
            </a:r>
          </a:p>
          <a:p>
            <a:pPr marL="228600" indent="-228600">
              <a:buAutoNum type="arabicPeriod"/>
            </a:pPr>
            <a:r>
              <a:rPr lang="en-US" dirty="0"/>
              <a:t>Identify the stakeholders and value tensions. For e.g., the stakeholders here could be site users and site owners. Their interests may align or conflict. For e.g., site users may want to be anonymous, but site owners might want to monetize site usage by sharing personal usage data with advertisers. On the </a:t>
            </a:r>
            <a:r>
              <a:rPr lang="en-US"/>
              <a:t>other hand, </a:t>
            </a:r>
            <a:r>
              <a:rPr lang="en-US" dirty="0"/>
              <a:t>they may align if the site owners want to make accountability and transparently a core value of their operations.</a:t>
            </a:r>
          </a:p>
          <a:p>
            <a:pPr marL="228600" indent="-228600">
              <a:buAutoNum type="arabicPeriod"/>
            </a:pPr>
            <a:r>
              <a:rPr lang="en-US" dirty="0"/>
              <a:t>Cookies in browsers are one way to collect personal information after taking permission from the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5893513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4930-7BFC-B85F-7B1F-91CBE3DB6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686BB-97DB-31D4-DF63-8EBB5830E5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209EB-F107-C0B9-3F49-D8686F394F46}"/>
              </a:ext>
            </a:extLst>
          </p:cNvPr>
          <p:cNvSpPr>
            <a:spLocks noGrp="1"/>
          </p:cNvSpPr>
          <p:nvPr>
            <p:ph type="body" idx="1"/>
          </p:nvPr>
        </p:nvSpPr>
        <p:spPr/>
        <p:txBody>
          <a:bodyPr/>
          <a:lstStyle/>
          <a:p>
            <a:r>
              <a:rPr lang="en-US" dirty="0"/>
              <a:t>You’re not going to be experts on requirements analysis after this lecture, or on Value-Sensitive Design. Any form of </a:t>
            </a:r>
            <a:r>
              <a:rPr lang="en-US" i="1" dirty="0">
                <a:latin typeface="Times New Roman" panose="02020603050405020304" pitchFamily="18" charset="0"/>
                <a:cs typeface="Times New Roman" panose="02020603050405020304" pitchFamily="18" charset="0"/>
              </a:rPr>
              <a:t>x</a:t>
            </a:r>
            <a:r>
              <a:rPr lang="en-US" dirty="0"/>
              <a:t>-Driven Design could be the focus of a whole class.</a:t>
            </a:r>
          </a:p>
          <a:p>
            <a:endParaRPr lang="en-US" dirty="0"/>
          </a:p>
          <a:p>
            <a:r>
              <a:rPr lang="en-US" dirty="0"/>
              <a:t>From our perspective, requirements analysis is where the user stories we focus on </a:t>
            </a:r>
            <a:r>
              <a:rPr lang="en-US" i="1" dirty="0"/>
              <a:t>come from in the first place</a:t>
            </a:r>
            <a:r>
              <a:rPr lang="en-US" i="0" dirty="0"/>
              <a:t>, but in this class you’ll mostly be making up user stories based on an imagined idea of what an imagined user might want. That is… unfortunately how things often work in the real world, and a staggering amount of resources have been wasted as a result. (Some would blame Meta/Facebook’s VR projects of failing at this level.)</a:t>
            </a:r>
          </a:p>
          <a:p>
            <a:endParaRPr lang="en-US" i="0" dirty="0"/>
          </a:p>
          <a:p>
            <a:r>
              <a:rPr lang="en-US" i="0" dirty="0"/>
              <a:t>If you’re actually starting any kind of software engineering project in the real world, seriously studying </a:t>
            </a:r>
            <a:r>
              <a:rPr lang="en-US" i="1" dirty="0">
                <a:latin typeface="Times New Roman" panose="02020603050405020304" pitchFamily="18" charset="0"/>
                <a:cs typeface="Times New Roman" panose="02020603050405020304" pitchFamily="18" charset="0"/>
              </a:rPr>
              <a:t>x</a:t>
            </a:r>
            <a:r>
              <a:rPr lang="en-US" dirty="0"/>
              <a:t>-Driven Design for almost any value of x and using it to organize and prioritize your user stories, or </a:t>
            </a:r>
            <a:r>
              <a:rPr lang="en-US" i="1" dirty="0"/>
              <a:t>partnering with people that have more than a 30-minute lecture’s worth of experience in the idea</a:t>
            </a:r>
            <a:r>
              <a:rPr lang="en-US" dirty="0"/>
              <a:t>, is something you should take seriously.</a:t>
            </a:r>
          </a:p>
        </p:txBody>
      </p:sp>
      <p:sp>
        <p:nvSpPr>
          <p:cNvPr id="4" name="Slide Number Placeholder 3">
            <a:extLst>
              <a:ext uri="{FF2B5EF4-FFF2-40B4-BE49-F238E27FC236}">
                <a16:creationId xmlns:a16="http://schemas.microsoft.com/office/drawing/2014/main" id="{1EC54EEA-5545-9264-4800-E56DECBD8058}"/>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8638759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12/30/25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12/30/25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12/30/25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12/30/25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12/30/25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12/30/25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12/30/25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12/30/25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12/30/25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12/30/25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12/30/25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2.1: Requirements Analysis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The big picture</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992336" y="3820667"/>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233218" y="346139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4318928" y="5408569"/>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98893">
            <a:off x="11064490" y="5442041"/>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400000">
            <a:off x="8858832" y="3454654"/>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1085" y="5051714"/>
            <a:ext cx="637540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800" dirty="0">
                <a:solidFill>
                  <a:prstClr val="black"/>
                </a:solidFill>
                <a:latin typeface="Calibri" panose="020F0502020204030204"/>
              </a:rPr>
              <a:t>conditions</a:t>
            </a: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DD3999F-6DD6-BB84-629B-168F11927A1D}"/>
              </a:ext>
            </a:extLst>
          </p:cNvPr>
          <p:cNvSpPr txBox="1"/>
          <p:nvPr/>
        </p:nvSpPr>
        <p:spPr>
          <a:xfrm>
            <a:off x="6878945" y="4431514"/>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and</a:t>
            </a: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199" y="18255"/>
            <a:ext cx="10890497" cy="1325563"/>
          </a:xfrm>
        </p:spPr>
        <p:txBody>
          <a:bodyPr>
            <a:noAutofit/>
          </a:bodyPr>
          <a:lstStyle/>
          <a:p>
            <a:r>
              <a:rPr lang="en-US" dirty="0"/>
              <a:t>Requirements Analysis </a:t>
            </a:r>
            <a:br>
              <a:rPr lang="en-US" dirty="0"/>
            </a:br>
            <a:r>
              <a:rPr lang="en-US" dirty="0"/>
              <a:t>Connects High-Level Planning To User Stories</a:t>
            </a:r>
          </a:p>
        </p:txBody>
      </p:sp>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p:txBody>
          <a:bodyPr>
            <a:normAutofit/>
          </a:bodyPr>
          <a:lstStyle/>
          <a:p>
            <a:fld id="{20F37917-FD3A-4669-9018-DA04BCDD3D75}" type="slidenum">
              <a:rPr lang="en-US" smtClean="0"/>
              <a:pPr/>
              <a:t>4</a:t>
            </a:fld>
            <a:endParaRPr lang="en-US"/>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extLst>
              <p:ext uri="{D42A27DB-BD31-4B8C-83A1-F6EECF244321}">
                <p14:modId xmlns:p14="http://schemas.microsoft.com/office/powerpoint/2010/main" val="1179340103"/>
              </p:ext>
            </p:extLst>
          </p:nvPr>
        </p:nvGraphicFramePr>
        <p:xfrm>
          <a:off x="4319921" y="3065605"/>
          <a:ext cx="7636290" cy="4714238"/>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2265812">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F983179-0C95-C3C6-3932-381E21E53BA9}"/>
              </a:ext>
            </a:extLst>
          </p:cNvPr>
          <p:cNvSpPr txBox="1"/>
          <p:nvPr/>
        </p:nvSpPr>
        <p:spPr>
          <a:xfrm>
            <a:off x="4319921" y="3842373"/>
            <a:ext cx="7768500" cy="2800767"/>
          </a:xfrm>
          <a:prstGeom prst="rect">
            <a:avLst/>
          </a:prstGeom>
          <a:noFill/>
        </p:spPr>
        <p:txBody>
          <a:bodyPr wrap="square" rtlCol="0">
            <a:spAutoFit/>
          </a:bodyPr>
          <a:lstStyle/>
          <a:p>
            <a:r>
              <a:rPr lang="en-US" sz="4400">
                <a:solidFill>
                  <a:srgbClr val="FF0000"/>
                </a:solidFill>
              </a:rPr>
              <a:t>Requirements Analysis</a:t>
            </a:r>
          </a:p>
          <a:p>
            <a:r>
              <a:rPr lang="en-US" sz="4400"/>
              <a:t>User Stories</a:t>
            </a:r>
          </a:p>
          <a:p>
            <a:r>
              <a:rPr lang="en-US" sz="4400"/>
              <a:t>Testing Conditions of Satisfaction</a:t>
            </a:r>
          </a:p>
          <a:p>
            <a:endParaRPr lang="en-US" sz="4400"/>
          </a:p>
        </p:txBody>
      </p:sp>
    </p:spTree>
    <p:extLst>
      <p:ext uri="{BB962C8B-B14F-4D97-AF65-F5344CB8AC3E}">
        <p14:creationId xmlns:p14="http://schemas.microsoft.com/office/powerpoint/2010/main" val="210703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Overall question:</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5</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en.wikipedia.org</a:t>
            </a:r>
            <a:r>
              <a:rPr lang="en-US" dirty="0">
                <a:solidFill>
                  <a:schemeClr val="tx1"/>
                </a:solidFill>
              </a:rPr>
              <a:t>/wiki/</a:t>
            </a:r>
            <a:r>
              <a:rPr lang="en-US" dirty="0" err="1">
                <a:solidFill>
                  <a:schemeClr val="tx1"/>
                </a:solidFill>
              </a:rPr>
              <a:t>Tree_swing_cartoon</a:t>
            </a:r>
            <a:endParaRPr lang="en-US" dirty="0">
              <a:solidFill>
                <a:schemeClr val="tx1"/>
              </a:solidFill>
            </a:endParaRPr>
          </a:p>
        </p:txBody>
      </p:sp>
    </p:spTree>
    <p:extLst>
      <p:ext uri="{BB962C8B-B14F-4D97-AF65-F5344CB8AC3E}">
        <p14:creationId xmlns:p14="http://schemas.microsoft.com/office/powerpoint/2010/main" val="1343145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6</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methodologies for this.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lnSpcReduction="10000"/>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dirty="0"/>
              <a:t>User stories 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84FC3-A6B4-8822-C909-3CD8065382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01C65-CC1F-9000-1092-614014941892}"/>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1EDFA6D-EF9F-0801-735C-1951861C5215}"/>
              </a:ext>
            </a:extLst>
          </p:cNvPr>
          <p:cNvSpPr>
            <a:spLocks noGrp="1"/>
          </p:cNvSpPr>
          <p:nvPr>
            <p:ph idx="1"/>
          </p:nvPr>
        </p:nvSpPr>
        <p:spPr>
          <a:xfrm>
            <a:off x="838200" y="1500160"/>
            <a:ext cx="10400414" cy="4856190"/>
          </a:xfrm>
        </p:spPr>
        <p:txBody>
          <a:bodyPr>
            <a:normAutofit/>
          </a:bodyPr>
          <a:lstStyle/>
          <a:p>
            <a:r>
              <a:rPr lang="en-US" dirty="0"/>
              <a:t>The last lecture covered </a:t>
            </a:r>
            <a:r>
              <a:rPr lang="en-US" b="1" dirty="0"/>
              <a:t>prioritizing</a:t>
            </a:r>
            <a:r>
              <a:rPr lang="en-US" dirty="0"/>
              <a:t> </a:t>
            </a:r>
            <a:r>
              <a:rPr lang="en-US" b="1" dirty="0"/>
              <a:t>conditions of satisfaction </a:t>
            </a:r>
            <a:r>
              <a:rPr lang="en-US" dirty="0"/>
              <a:t>within a user story. This is a complex </a:t>
            </a:r>
            <a:r>
              <a:rPr lang="en-US" i="1" dirty="0"/>
              <a:t>organization</a:t>
            </a:r>
            <a:r>
              <a:rPr lang="en-US" dirty="0"/>
              <a:t> activity that requires negotiation</a:t>
            </a:r>
          </a:p>
          <a:p>
            <a:r>
              <a:rPr lang="en-US" dirty="0"/>
              <a:t>Now we’re talking about </a:t>
            </a:r>
            <a:r>
              <a:rPr lang="en-US" b="1" dirty="0"/>
              <a:t>prioritizing user stories</a:t>
            </a:r>
            <a:r>
              <a:rPr lang="en-US" dirty="0"/>
              <a:t>. This is a complex </a:t>
            </a:r>
            <a:r>
              <a:rPr lang="en-US" i="1" dirty="0"/>
              <a:t>planning activity </a:t>
            </a:r>
            <a:r>
              <a:rPr lang="en-US" dirty="0"/>
              <a:t>that is constrained by resources (budget, time, personnel) and multiple (competing or incompatible) ideas about what’s important</a:t>
            </a:r>
          </a:p>
        </p:txBody>
      </p:sp>
      <p:sp>
        <p:nvSpPr>
          <p:cNvPr id="4" name="Slide Number Placeholder 3">
            <a:extLst>
              <a:ext uri="{FF2B5EF4-FFF2-40B4-BE49-F238E27FC236}">
                <a16:creationId xmlns:a16="http://schemas.microsoft.com/office/drawing/2014/main" id="{67DE1525-B84E-A86B-0756-4C6B0096A17A}"/>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6" name="Rectangle: Diagonal Corners Rounded 6">
            <a:extLst>
              <a:ext uri="{FF2B5EF4-FFF2-40B4-BE49-F238E27FC236}">
                <a16:creationId xmlns:a16="http://schemas.microsoft.com/office/drawing/2014/main" id="{522DE6A9-87BA-BB52-96F7-2C8B993D80AD}"/>
              </a:ext>
            </a:extLst>
          </p:cNvPr>
          <p:cNvSpPr/>
          <p:nvPr/>
        </p:nvSpPr>
        <p:spPr>
          <a:xfrm>
            <a:off x="11091395" y="16524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pic>
        <p:nvPicPr>
          <p:cNvPr id="7" name="Graphic 6" descr="Flowchart with solid fill">
            <a:extLst>
              <a:ext uri="{FF2B5EF4-FFF2-40B4-BE49-F238E27FC236}">
                <a16:creationId xmlns:a16="http://schemas.microsoft.com/office/drawing/2014/main" id="{08636143-AD77-7AF4-3484-74B1848FD1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27193" y="1682357"/>
            <a:ext cx="914400" cy="914400"/>
          </a:xfrm>
          <a:prstGeom prst="rect">
            <a:avLst/>
          </a:prstGeom>
        </p:spPr>
      </p:pic>
      <p:sp>
        <p:nvSpPr>
          <p:cNvPr id="8" name="Rectangle: Diagonal Corners Rounded 13">
            <a:extLst>
              <a:ext uri="{FF2B5EF4-FFF2-40B4-BE49-F238E27FC236}">
                <a16:creationId xmlns:a16="http://schemas.microsoft.com/office/drawing/2014/main" id="{E922B852-4704-C27B-4827-EF040C88014C}"/>
              </a:ext>
            </a:extLst>
          </p:cNvPr>
          <p:cNvSpPr/>
          <p:nvPr/>
        </p:nvSpPr>
        <p:spPr>
          <a:xfrm>
            <a:off x="11091395" y="30984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Graphic 9" descr="Thought bubble with solid fill">
            <a:extLst>
              <a:ext uri="{FF2B5EF4-FFF2-40B4-BE49-F238E27FC236}">
                <a16:creationId xmlns:a16="http://schemas.microsoft.com/office/drawing/2014/main" id="{63DCD26A-C485-B032-7BC0-FF88C337574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59744" y="3166821"/>
            <a:ext cx="837566" cy="837566"/>
          </a:xfrm>
          <a:prstGeom prst="rect">
            <a:avLst/>
          </a:prstGeom>
        </p:spPr>
      </p:pic>
    </p:spTree>
    <p:extLst>
      <p:ext uri="{BB962C8B-B14F-4D97-AF65-F5344CB8AC3E}">
        <p14:creationId xmlns:p14="http://schemas.microsoft.com/office/powerpoint/2010/main" val="2614843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50B7A-CE43-9E2E-51B8-3E37D4B927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83B157-62A4-F48F-7780-2073E1B3B5A3}"/>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CD34E7E6-FEBA-DFB9-9FFD-DEA1E020E5C7}"/>
              </a:ext>
            </a:extLst>
          </p:cNvPr>
          <p:cNvSpPr>
            <a:spLocks noGrp="1"/>
          </p:cNvSpPr>
          <p:nvPr>
            <p:ph idx="1"/>
          </p:nvPr>
        </p:nvSpPr>
        <p:spPr>
          <a:xfrm>
            <a:off x="838200" y="1500160"/>
            <a:ext cx="10400414" cy="4856190"/>
          </a:xfrm>
        </p:spPr>
        <p:txBody>
          <a:bodyPr>
            <a:normAutofit/>
          </a:bodyPr>
          <a:lstStyle/>
          <a:p>
            <a:r>
              <a:rPr lang="en-US" dirty="0"/>
              <a:t>The last lecture covered </a:t>
            </a:r>
            <a:r>
              <a:rPr lang="en-US" b="1" dirty="0"/>
              <a:t>prioritizing</a:t>
            </a:r>
            <a:r>
              <a:rPr lang="en-US" dirty="0"/>
              <a:t> </a:t>
            </a:r>
            <a:r>
              <a:rPr lang="en-US" b="1" dirty="0"/>
              <a:t>conditions of satisfaction </a:t>
            </a:r>
            <a:r>
              <a:rPr lang="en-US" dirty="0"/>
              <a:t>within a user story. This is a complex </a:t>
            </a:r>
            <a:r>
              <a:rPr lang="en-US" i="1" dirty="0"/>
              <a:t>organization</a:t>
            </a:r>
            <a:r>
              <a:rPr lang="en-US" dirty="0"/>
              <a:t> activity that requires negotiation</a:t>
            </a:r>
          </a:p>
          <a:p>
            <a:r>
              <a:rPr lang="en-US" dirty="0"/>
              <a:t>Now we’re talking about </a:t>
            </a:r>
            <a:r>
              <a:rPr lang="en-US" b="1" dirty="0"/>
              <a:t>prioritizing user stories</a:t>
            </a:r>
            <a:r>
              <a:rPr lang="en-US" dirty="0"/>
              <a:t>. This is a complex </a:t>
            </a:r>
            <a:r>
              <a:rPr lang="en-US" i="1" dirty="0"/>
              <a:t>planning activity </a:t>
            </a:r>
            <a:r>
              <a:rPr lang="en-US" dirty="0"/>
              <a:t>that is constrained by resources (budget, time, personnel) and multiple (competing or incompatible) ideas about what’s important</a:t>
            </a:r>
          </a:p>
        </p:txBody>
      </p:sp>
      <p:sp>
        <p:nvSpPr>
          <p:cNvPr id="4" name="Slide Number Placeholder 3">
            <a:extLst>
              <a:ext uri="{FF2B5EF4-FFF2-40B4-BE49-F238E27FC236}">
                <a16:creationId xmlns:a16="http://schemas.microsoft.com/office/drawing/2014/main" id="{1008C1D7-917A-DEE4-D430-774352B3D686}"/>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6" name="Rectangle: Diagonal Corners Rounded 6">
            <a:extLst>
              <a:ext uri="{FF2B5EF4-FFF2-40B4-BE49-F238E27FC236}">
                <a16:creationId xmlns:a16="http://schemas.microsoft.com/office/drawing/2014/main" id="{16E2E723-CBE2-3ABA-08DC-1DB07A9DAD23}"/>
              </a:ext>
            </a:extLst>
          </p:cNvPr>
          <p:cNvSpPr/>
          <p:nvPr/>
        </p:nvSpPr>
        <p:spPr>
          <a:xfrm>
            <a:off x="11091395" y="16524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pic>
        <p:nvPicPr>
          <p:cNvPr id="7" name="Graphic 6" descr="Flowchart with solid fill">
            <a:extLst>
              <a:ext uri="{FF2B5EF4-FFF2-40B4-BE49-F238E27FC236}">
                <a16:creationId xmlns:a16="http://schemas.microsoft.com/office/drawing/2014/main" id="{0A33F4F3-52C6-7727-CF33-A622136189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27193" y="1682357"/>
            <a:ext cx="914400" cy="914400"/>
          </a:xfrm>
          <a:prstGeom prst="rect">
            <a:avLst/>
          </a:prstGeom>
        </p:spPr>
      </p:pic>
      <p:sp>
        <p:nvSpPr>
          <p:cNvPr id="8" name="Rectangle: Diagonal Corners Rounded 13">
            <a:extLst>
              <a:ext uri="{FF2B5EF4-FFF2-40B4-BE49-F238E27FC236}">
                <a16:creationId xmlns:a16="http://schemas.microsoft.com/office/drawing/2014/main" id="{250D5917-4CC8-A7A8-E776-0DAC0D21D969}"/>
              </a:ext>
            </a:extLst>
          </p:cNvPr>
          <p:cNvSpPr/>
          <p:nvPr/>
        </p:nvSpPr>
        <p:spPr>
          <a:xfrm>
            <a:off x="11091395" y="30984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Graphic 9" descr="Thought bubble with solid fill">
            <a:extLst>
              <a:ext uri="{FF2B5EF4-FFF2-40B4-BE49-F238E27FC236}">
                <a16:creationId xmlns:a16="http://schemas.microsoft.com/office/drawing/2014/main" id="{F42536EC-D7D7-285F-5F03-C7155E4F51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59744" y="3166821"/>
            <a:ext cx="837566" cy="837566"/>
          </a:xfrm>
          <a:prstGeom prst="rect">
            <a:avLst/>
          </a:prstGeom>
        </p:spPr>
      </p:pic>
    </p:spTree>
    <p:extLst>
      <p:ext uri="{BB962C8B-B14F-4D97-AF65-F5344CB8AC3E}">
        <p14:creationId xmlns:p14="http://schemas.microsoft.com/office/powerpoint/2010/main" val="879172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“Building the Right Thing”</a:t>
            </a:r>
            <a:br>
              <a:rPr lang="en-US" dirty="0"/>
            </a:br>
            <a:r>
              <a:rPr lang="en-US" dirty="0"/>
              <a:t>Necessarily Involves Value Judgments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Right for whom?</a:t>
            </a:r>
          </a:p>
          <a:p>
            <a:r>
              <a:rPr lang="en-US" dirty="0"/>
              <a:t>Who benefits?</a:t>
            </a:r>
          </a:p>
          <a:p>
            <a:r>
              <a:rPr lang="en-US" dirty="0"/>
              <a:t>Limitations of budget/time/personnel</a:t>
            </a:r>
          </a:p>
          <a:p>
            <a:r>
              <a:rPr lang="en-US" dirty="0"/>
              <a:t>Competing/incompatible ideas about what's important</a:t>
            </a:r>
          </a:p>
          <a:p>
            <a:r>
              <a:rPr lang="en-US" dirty="0"/>
              <a:t>Competing/incompatible sets of COSs</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101357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Value Sensitive Design (VSD) is one framework (of many!)</a:t>
            </a:r>
          </a:p>
          <a:p>
            <a:r>
              <a:rPr lang="en-US" dirty="0"/>
              <a:t>VSD guides designers and engineers to pay special attention to </a:t>
            </a:r>
            <a:r>
              <a:rPr lang="en-US" b="1" dirty="0"/>
              <a:t>stakeholders</a:t>
            </a:r>
            <a:r>
              <a:rPr lang="en-US" dirty="0"/>
              <a:t> and </a:t>
            </a:r>
            <a:r>
              <a:rPr lang="en-US" b="1" dirty="0"/>
              <a:t>human values </a:t>
            </a:r>
            <a:r>
              <a:rPr lang="en-US" dirty="0"/>
              <a:t>when writing and prioritizing user stories</a:t>
            </a:r>
          </a:p>
          <a:p>
            <a:r>
              <a:rPr lang="en-US" dirty="0"/>
              <a:t>Combines </a:t>
            </a:r>
            <a:r>
              <a:rPr lang="en-US" b="1" dirty="0">
                <a:solidFill>
                  <a:srgbClr val="FF0000"/>
                </a:solidFill>
              </a:rPr>
              <a:t>empirical</a:t>
            </a:r>
            <a:r>
              <a:rPr lang="en-US" dirty="0"/>
              <a:t>, </a:t>
            </a:r>
            <a:r>
              <a:rPr lang="en-US" b="1" dirty="0">
                <a:solidFill>
                  <a:srgbClr val="FF0000"/>
                </a:solidFill>
              </a:rPr>
              <a:t>value</a:t>
            </a:r>
            <a:r>
              <a:rPr lang="en-US" dirty="0"/>
              <a:t>, and </a:t>
            </a:r>
            <a:r>
              <a:rPr lang="en-US" b="1" dirty="0">
                <a:solidFill>
                  <a:srgbClr val="FF0000"/>
                </a:solidFill>
              </a:rPr>
              <a:t>technical</a:t>
            </a:r>
            <a:r>
              <a:rPr lang="en-US" dirty="0"/>
              <a:t> </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903354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7E31F-9432-D273-E657-9160918E2DFC}"/>
              </a:ext>
            </a:extLst>
          </p:cNvPr>
          <p:cNvSpPr>
            <a:spLocks noGrp="1"/>
          </p:cNvSpPr>
          <p:nvPr>
            <p:ph type="title"/>
          </p:nvPr>
        </p:nvSpPr>
        <p:spPr/>
        <p:txBody>
          <a:bodyPr/>
          <a:lstStyle/>
          <a:p>
            <a:r>
              <a:rPr lang="en-US" dirty="0"/>
              <a:t>VSD Example – Informed Consent</a:t>
            </a:r>
          </a:p>
        </p:txBody>
      </p:sp>
      <p:sp>
        <p:nvSpPr>
          <p:cNvPr id="3" name="Content Placeholder 2">
            <a:extLst>
              <a:ext uri="{FF2B5EF4-FFF2-40B4-BE49-F238E27FC236}">
                <a16:creationId xmlns:a16="http://schemas.microsoft.com/office/drawing/2014/main" id="{A47FEDD6-9257-06C3-64D2-A03956520DFA}"/>
              </a:ext>
            </a:extLst>
          </p:cNvPr>
          <p:cNvSpPr>
            <a:spLocks noGrp="1"/>
          </p:cNvSpPr>
          <p:nvPr>
            <p:ph idx="1"/>
          </p:nvPr>
        </p:nvSpPr>
        <p:spPr>
          <a:xfrm>
            <a:off x="838200" y="1542364"/>
            <a:ext cx="3563678" cy="4856190"/>
          </a:xfrm>
        </p:spPr>
        <p:txBody>
          <a:bodyPr>
            <a:normAutofit fontScale="77500" lnSpcReduction="20000"/>
          </a:bodyPr>
          <a:lstStyle/>
          <a:p>
            <a:pPr marL="0" indent="0">
              <a:buNone/>
            </a:pPr>
            <a:r>
              <a:rPr lang="en-US" sz="3300" dirty="0">
                <a:solidFill>
                  <a:srgbClr val="FF0000"/>
                </a:solidFill>
              </a:rPr>
              <a:t>Empirical Investigation:</a:t>
            </a:r>
          </a:p>
          <a:p>
            <a:pPr>
              <a:buFont typeface="Wingdings" pitchFamily="2" charset="2"/>
              <a:buChar char="v"/>
            </a:pPr>
            <a:r>
              <a:rPr lang="en-US" dirty="0"/>
              <a:t> </a:t>
            </a:r>
            <a:r>
              <a:rPr lang="en-US" sz="3100" dirty="0"/>
              <a:t>Understand what we mean by informed consent, encompasses:</a:t>
            </a:r>
          </a:p>
          <a:p>
            <a:pPr lvl="1">
              <a:buFont typeface="Wingdings" pitchFamily="2" charset="2"/>
              <a:buChar char="Ø"/>
            </a:pPr>
            <a:r>
              <a:rPr lang="en-US" dirty="0"/>
              <a:t> Disclosure. Do we know the pros and cons of taking an action?</a:t>
            </a:r>
          </a:p>
          <a:p>
            <a:pPr lvl="1">
              <a:buFont typeface="Wingdings" pitchFamily="2" charset="2"/>
              <a:buChar char="Ø"/>
            </a:pPr>
            <a:r>
              <a:rPr lang="en-US" dirty="0"/>
              <a:t>Comprehension. Do we understand the disclosures?</a:t>
            </a:r>
          </a:p>
          <a:p>
            <a:pPr lvl="1">
              <a:buFont typeface="Wingdings" pitchFamily="2" charset="2"/>
              <a:buChar char="Ø"/>
            </a:pPr>
            <a:r>
              <a:rPr lang="en-US" dirty="0"/>
              <a:t>Voluntariness. Is there coercion or manipulation?</a:t>
            </a:r>
          </a:p>
          <a:p>
            <a:pPr lvl="1">
              <a:buFont typeface="Wingdings" pitchFamily="2" charset="2"/>
              <a:buChar char="Ø"/>
            </a:pPr>
            <a:r>
              <a:rPr lang="en-US" dirty="0"/>
              <a:t>Agreement. Is there a clear opportunity to consent or not?</a:t>
            </a:r>
          </a:p>
          <a:p>
            <a:pPr lvl="1">
              <a:buFont typeface="Wingdings" pitchFamily="2" charset="2"/>
              <a:buChar char="Ø"/>
            </a:pPr>
            <a:r>
              <a:rPr lang="en-US" dirty="0"/>
              <a:t>Competence. Are we capable to give consent?</a:t>
            </a:r>
          </a:p>
          <a:p>
            <a:pPr>
              <a:buFont typeface="Wingdings" pitchFamily="2" charset="2"/>
              <a:buChar char="v"/>
            </a:pPr>
            <a:endParaRPr lang="en-US" dirty="0"/>
          </a:p>
          <a:p>
            <a:pPr marL="0" indent="0">
              <a:buNone/>
            </a:pPr>
            <a:endParaRPr lang="en-US" dirty="0"/>
          </a:p>
          <a:p>
            <a:pPr lvl="1"/>
            <a:endParaRPr lang="en-US" dirty="0"/>
          </a:p>
        </p:txBody>
      </p:sp>
      <p:sp>
        <p:nvSpPr>
          <p:cNvPr id="4" name="Slide Number Placeholder 3">
            <a:extLst>
              <a:ext uri="{FF2B5EF4-FFF2-40B4-BE49-F238E27FC236}">
                <a16:creationId xmlns:a16="http://schemas.microsoft.com/office/drawing/2014/main" id="{1A309984-5F97-FD9B-DE57-02FEB834038B}"/>
              </a:ext>
            </a:extLst>
          </p:cNvPr>
          <p:cNvSpPr>
            <a:spLocks noGrp="1"/>
          </p:cNvSpPr>
          <p:nvPr>
            <p:ph type="sldNum" sz="quarter" idx="12"/>
          </p:nvPr>
        </p:nvSpPr>
        <p:spPr/>
        <p:txBody>
          <a:bodyPr/>
          <a:lstStyle/>
          <a:p>
            <a:fld id="{20F37917-FD3A-4669-9018-DA04BCDD3D75}" type="slidenum">
              <a:rPr lang="en-US" smtClean="0"/>
              <a:t>13</a:t>
            </a:fld>
            <a:endParaRPr lang="en-US"/>
          </a:p>
        </p:txBody>
      </p:sp>
      <p:sp>
        <p:nvSpPr>
          <p:cNvPr id="5" name="Content Placeholder 2">
            <a:extLst>
              <a:ext uri="{FF2B5EF4-FFF2-40B4-BE49-F238E27FC236}">
                <a16:creationId xmlns:a16="http://schemas.microsoft.com/office/drawing/2014/main" id="{7C8C59BE-2B9E-3A09-FADE-C47010207B67}"/>
              </a:ext>
            </a:extLst>
          </p:cNvPr>
          <p:cNvSpPr txBox="1">
            <a:spLocks/>
          </p:cNvSpPr>
          <p:nvPr/>
        </p:nvSpPr>
        <p:spPr>
          <a:xfrm>
            <a:off x="4531242" y="1500160"/>
            <a:ext cx="3804684"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Values Investigation:</a:t>
            </a:r>
          </a:p>
          <a:p>
            <a:pPr>
              <a:buFont typeface="Wingdings" pitchFamily="2" charset="2"/>
              <a:buChar char="v"/>
            </a:pPr>
            <a:r>
              <a:rPr lang="en-US" dirty="0"/>
              <a:t> Who are the direct and indirect stakeholders?</a:t>
            </a:r>
          </a:p>
          <a:p>
            <a:pPr>
              <a:buFont typeface="Wingdings" pitchFamily="2" charset="2"/>
              <a:buChar char="v"/>
            </a:pPr>
            <a:r>
              <a:rPr lang="en-US" dirty="0"/>
              <a:t>Do the stakeholders have conflicting values?</a:t>
            </a:r>
          </a:p>
          <a:p>
            <a:pPr>
              <a:buFont typeface="Wingdings" pitchFamily="2" charset="2"/>
              <a:buChar char="v"/>
            </a:pPr>
            <a:r>
              <a:rPr lang="en-US" dirty="0"/>
              <a:t>How can we resolve them?</a:t>
            </a:r>
          </a:p>
          <a:p>
            <a:pPr>
              <a:buFont typeface="Wingdings" pitchFamily="2" charset="2"/>
              <a:buChar char="v"/>
            </a:pPr>
            <a:endParaRPr lang="en-US" dirty="0"/>
          </a:p>
          <a:p>
            <a:pPr lvl="1"/>
            <a:endParaRPr lang="en-US" dirty="0"/>
          </a:p>
        </p:txBody>
      </p:sp>
      <p:sp>
        <p:nvSpPr>
          <p:cNvPr id="6" name="Content Placeholder 2">
            <a:extLst>
              <a:ext uri="{FF2B5EF4-FFF2-40B4-BE49-F238E27FC236}">
                <a16:creationId xmlns:a16="http://schemas.microsoft.com/office/drawing/2014/main" id="{5CBCCECD-1E8C-0DA4-098C-A5837F9D9535}"/>
              </a:ext>
            </a:extLst>
          </p:cNvPr>
          <p:cNvSpPr txBox="1">
            <a:spLocks/>
          </p:cNvSpPr>
          <p:nvPr/>
        </p:nvSpPr>
        <p:spPr>
          <a:xfrm>
            <a:off x="8265042" y="1500160"/>
            <a:ext cx="3804684"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Technical Investigation:</a:t>
            </a:r>
          </a:p>
          <a:p>
            <a:pPr>
              <a:buFont typeface="Wingdings" pitchFamily="2" charset="2"/>
              <a:buChar char="v"/>
            </a:pPr>
            <a:r>
              <a:rPr lang="en-US" dirty="0"/>
              <a:t> What are the technical mechanisms for implementing informed consent.</a:t>
            </a:r>
          </a:p>
          <a:p>
            <a:pPr lvl="1">
              <a:buFont typeface="Wingdings" pitchFamily="2" charset="2"/>
              <a:buChar char="Ø"/>
            </a:pPr>
            <a:r>
              <a:rPr lang="en-US" dirty="0"/>
              <a:t> One way =&gt; cookie consent management system.</a:t>
            </a:r>
          </a:p>
          <a:p>
            <a:pPr lvl="1">
              <a:buFont typeface="Wingdings" pitchFamily="2" charset="2"/>
              <a:buChar char="Ø"/>
            </a:pPr>
            <a:r>
              <a:rPr lang="en-US" dirty="0"/>
              <a:t>Websites use them to obtain and manage user permission for using cookies.</a:t>
            </a:r>
          </a:p>
        </p:txBody>
      </p:sp>
      <p:sp>
        <p:nvSpPr>
          <p:cNvPr id="7" name="Rectangle 6">
            <a:extLst>
              <a:ext uri="{FF2B5EF4-FFF2-40B4-BE49-F238E27FC236}">
                <a16:creationId xmlns:a16="http://schemas.microsoft.com/office/drawing/2014/main" id="{B34C18CB-D004-428A-F501-7FEE682E18D0}"/>
              </a:ext>
            </a:extLst>
          </p:cNvPr>
          <p:cNvSpPr/>
          <p:nvPr/>
        </p:nvSpPr>
        <p:spPr>
          <a:xfrm>
            <a:off x="8003005" y="6007840"/>
            <a:ext cx="2743200" cy="681622"/>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Read the tutorial!</a:t>
            </a:r>
          </a:p>
        </p:txBody>
      </p:sp>
    </p:spTree>
    <p:extLst>
      <p:ext uri="{BB962C8B-B14F-4D97-AF65-F5344CB8AC3E}">
        <p14:creationId xmlns:p14="http://schemas.microsoft.com/office/powerpoint/2010/main" val="21480815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FAD71-1BAB-2FC3-01FE-1A85872CF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A0D4C-9481-CBE0-299D-BA526E1FA0DC}"/>
              </a:ext>
            </a:extLst>
          </p:cNvPr>
          <p:cNvSpPr>
            <a:spLocks noGrp="1"/>
          </p:cNvSpPr>
          <p:nvPr>
            <p:ph type="title"/>
          </p:nvPr>
        </p:nvSpPr>
        <p:spPr/>
        <p:txBody>
          <a:bodyPr/>
          <a:lstStyle/>
          <a:p>
            <a:r>
              <a:rPr lang="en-US" dirty="0"/>
              <a:t>Review: Requirements analysis</a:t>
            </a:r>
          </a:p>
        </p:txBody>
      </p:sp>
      <p:sp>
        <p:nvSpPr>
          <p:cNvPr id="12" name="Content Placeholder 11">
            <a:extLst>
              <a:ext uri="{FF2B5EF4-FFF2-40B4-BE49-F238E27FC236}">
                <a16:creationId xmlns:a16="http://schemas.microsoft.com/office/drawing/2014/main" id="{1733AECC-F35D-86D5-0EF0-33A3D6984A79}"/>
              </a:ext>
            </a:extLst>
          </p:cNvPr>
          <p:cNvSpPr>
            <a:spLocks noGrp="1"/>
          </p:cNvSpPr>
          <p:nvPr>
            <p:ph idx="1"/>
          </p:nvPr>
        </p:nvSpPr>
        <p:spPr>
          <a:xfrm>
            <a:off x="838199" y="1500160"/>
            <a:ext cx="8553773" cy="4351338"/>
          </a:xfrm>
        </p:spPr>
        <p:txBody>
          <a:bodyPr/>
          <a:lstStyle/>
          <a:p>
            <a:r>
              <a:rPr lang="en-US" dirty="0"/>
              <a:t>How do we make sure we are building the right thing?</a:t>
            </a:r>
          </a:p>
          <a:p>
            <a:r>
              <a:rPr lang="en-US" dirty="0"/>
              <a:t>How do we learn from potential users before we start?</a:t>
            </a:r>
          </a:p>
          <a:p>
            <a:r>
              <a:rPr lang="en-US" dirty="0"/>
              <a:t>Values: what even makes something the “right thing”</a:t>
            </a:r>
          </a:p>
          <a:p>
            <a:r>
              <a:rPr lang="en-US" dirty="0"/>
              <a:t>Most forms of </a:t>
            </a:r>
            <a:r>
              <a:rPr lang="en-US" i="1" dirty="0">
                <a:latin typeface="Times New Roman" panose="02020603050405020304" pitchFamily="18" charset="0"/>
                <a:cs typeface="Times New Roman" panose="02020603050405020304" pitchFamily="18" charset="0"/>
              </a:rPr>
              <a:t>x</a:t>
            </a:r>
            <a:r>
              <a:rPr lang="en-US" dirty="0"/>
              <a:t>-Driven Design could be a whole course on their own</a:t>
            </a:r>
          </a:p>
        </p:txBody>
      </p:sp>
      <p:sp>
        <p:nvSpPr>
          <p:cNvPr id="13" name="Slide Number Placeholder 3">
            <a:extLst>
              <a:ext uri="{FF2B5EF4-FFF2-40B4-BE49-F238E27FC236}">
                <a16:creationId xmlns:a16="http://schemas.microsoft.com/office/drawing/2014/main" id="{D02726A1-6FBE-22C7-981B-CA52398B7B0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18091218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23028</TotalTime>
  <Words>2029</Words>
  <Application>Microsoft Macintosh PowerPoint</Application>
  <PresentationFormat>Widescreen</PresentationFormat>
  <Paragraphs>175</Paragraphs>
  <Slides>14</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Verdana</vt:lpstr>
      <vt:lpstr>Calibri</vt:lpstr>
      <vt:lpstr>Helvetica Neue</vt:lpstr>
      <vt:lpstr>Times New Roman</vt:lpstr>
      <vt:lpstr>Calibri Light</vt:lpstr>
      <vt:lpstr>Wingdings</vt:lpstr>
      <vt:lpstr>Office Theme</vt:lpstr>
      <vt:lpstr>CS 4530: Fundamentals of Software Engineering Module 2.1: Requirements Analysis</vt:lpstr>
      <vt:lpstr>Learning Goals for this Lesson</vt:lpstr>
      <vt:lpstr>The big picture</vt:lpstr>
      <vt:lpstr>Requirements Analysis  Connects High-Level Planning To User Stories</vt:lpstr>
      <vt:lpstr>Overall question: How to make sure we are building the right thing</vt:lpstr>
      <vt:lpstr>Why is requirements analysis hard?</vt:lpstr>
      <vt:lpstr>How do we capture the requirements?</vt:lpstr>
      <vt:lpstr>Common Elements</vt:lpstr>
      <vt:lpstr>Requirements gathering frameworks inform the structure and priority of user stories</vt:lpstr>
      <vt:lpstr>Requirements gathering frameworks inform the structure and priority of user stories</vt:lpstr>
      <vt:lpstr>“Building the Right Thing” Necessarily Involves Value Judgments</vt:lpstr>
      <vt:lpstr>Requirements gathering frameworks inform the structure and priority of user stories</vt:lpstr>
      <vt:lpstr>VSD Example – Informed Consent</vt:lpstr>
      <vt:lpstr>Review: Requirements analysis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234</cp:revision>
  <dcterms:created xsi:type="dcterms:W3CDTF">2021-01-07T15:19:22Z</dcterms:created>
  <dcterms:modified xsi:type="dcterms:W3CDTF">2025-12-31T02:14:20Z</dcterms:modified>
</cp:coreProperties>
</file>