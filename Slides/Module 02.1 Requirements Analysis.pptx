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485" r:id="rId2"/>
    <p:sldId id="396" r:id="rId3"/>
    <p:sldId id="576" r:id="rId4"/>
    <p:sldId id="555" r:id="rId5"/>
    <p:sldId id="564" r:id="rId6"/>
    <p:sldId id="351" r:id="rId7"/>
    <p:sldId id="531" r:id="rId8"/>
    <p:sldId id="532" r:id="rId9"/>
    <p:sldId id="582" r:id="rId10"/>
    <p:sldId id="567" r:id="rId11"/>
    <p:sldId id="556" r:id="rId12"/>
    <p:sldId id="601" r:id="rId13"/>
    <p:sldId id="603" r:id="rId14"/>
  </p:sldIdLst>
  <p:sldSz cx="12192000" cy="6858000"/>
  <p:notesSz cx="6858000" cy="9144000"/>
  <p:embeddedFontLst>
    <p:embeddedFont>
      <p:font typeface="Verdana" panose="020B0604030504040204" pitchFamily="34"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76"/>
            <p14:sldId id="555"/>
            <p14:sldId id="564"/>
            <p14:sldId id="351"/>
            <p14:sldId id="531"/>
            <p14:sldId id="532"/>
            <p14:sldId id="582"/>
            <p14:sldId id="567"/>
            <p14:sldId id="556"/>
            <p14:sldId id="601"/>
            <p14:sldId id="603"/>
          </p14:sldIdLst>
        </p14:section>
        <p14:section name="Default Section" id="{45C37290-6811-D443-AFE3-5EC2BFB2F1D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03" autoAdjust="0"/>
    <p:restoredTop sz="65714" autoAdjust="0"/>
  </p:normalViewPr>
  <p:slideViewPr>
    <p:cSldViewPr snapToGrid="0">
      <p:cViewPr varScale="1">
        <p:scale>
          <a:sx n="82" d="100"/>
          <a:sy n="82" d="100"/>
        </p:scale>
        <p:origin x="1896" y="16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16B49D51-0857-4A44-AD1A-0C1006418460}" srcId="{7851135E-E593-49EB-9C66-FB8F80DCC8EB}" destId="{0F25331F-8FB8-4E3A-87F2-3F285D74EB32}" srcOrd="2" destOrd="0" parTransId="{324E124D-8500-4C04-A0BA-6F6C2D553D81}" sibTransId="{4716CEE8-C882-4DFA-8AAE-CB3797F9F69F}"/>
    <dgm:cxn modelId="{BBA2886E-1FC2-4FFE-BF42-BABB70DB9D54}" srcId="{ABB0E679-4682-422A-B4B3-34D44CC4C90C}" destId="{79B77230-D940-49CC-AF47-BF1D40797D89}" srcOrd="0" destOrd="0" parTransId="{C50558CC-69DA-4C28-8CB9-2982E9088524}" sibTransId="{01A261DD-4242-4987-8459-53BA826F65E4}"/>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a:t>
            </a:r>
            <a:r>
              <a:rPr lang="en-US" dirty="0" err="1"/>
              <a:t>cass</a:t>
            </a:r>
            <a:r>
              <a:rPr lang="en-US" dirty="0"/>
              <a:t>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a:p>
            <a:r>
              <a:rPr lang="en-US" dirty="0"/>
              <a:t>Connecting the actual needs of people to user stories is the role of requirements analysis. We’ll discuss Value Sensitive Design specifically, and provide a pointer to more information in course materials.</a:t>
            </a:r>
          </a:p>
          <a:p>
            <a:endParaRPr lang="en-US" dirty="0"/>
          </a:p>
          <a:p>
            <a:r>
              <a:rPr lang="en-US" dirty="0"/>
              <a:t>In the context of requirements analysis, user stories to help us understand and communicate what we’re planning to do — the output of requirements analysis is often a prioritization of user stories. In your project, you’ll propose more than three user stories but then only be responsible for implementing three. You’ll be able to use whatever methodology you want for prioritizing user stories, but that’s not usually the case in the real world!</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a:t>
            </a:r>
            <a:r>
              <a:rPr lang="en-US"/>
              <a:t>other hand, </a:t>
            </a:r>
            <a:r>
              <a:rPr lang="en-US" dirty="0"/>
              <a:t>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partnering with people that have more than a 30-minute lecture’s worth of experience in the idea,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63875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05AA35-9DCF-65B8-897A-33E36A7915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92E55C-5981-165C-CE0D-1C3F9F4512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3F831-1A80-D500-A026-41AA0D95091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47D17D8-2DCB-F192-B126-C98566BE12AE}"/>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8559829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12/26/25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12/26/25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12/26/25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12/26/25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12/26/25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12/26/25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12/26/25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12/26/25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12/26/25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12/26/25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12/26/25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2.1: Requirements Analysis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Rob Simmons</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dirty="0"/>
              <a:t>The big picture</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200" y="18255"/>
            <a:ext cx="10515600" cy="1325563"/>
          </a:xfrm>
        </p:spPr>
        <p:txBody>
          <a:bodyPr>
            <a:noAutofit/>
          </a:bodyPr>
          <a:lstStyle/>
          <a:p>
            <a:r>
              <a:rPr lang="en-US" dirty="0"/>
              <a:t>Part 1: Requirements analysis</a:t>
            </a: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5</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en.wikipedia.org</a:t>
            </a:r>
            <a:r>
              <a:rPr lang="en-US" dirty="0">
                <a:solidFill>
                  <a:schemeClr val="tx1"/>
                </a:solidFill>
              </a:rPr>
              <a:t>/wiki/</a:t>
            </a:r>
            <a:r>
              <a:rPr lang="en-US" dirty="0" err="1">
                <a:solidFill>
                  <a:schemeClr val="tx1"/>
                </a:solidFill>
              </a:rPr>
              <a:t>Tree_swing_cartoon</a:t>
            </a:r>
            <a:endParaRPr lang="en-US" dirty="0">
              <a:solidFill>
                <a:schemeClr val="tx1"/>
              </a:solidFill>
            </a:endParaRPr>
          </a:p>
        </p:txBody>
      </p:sp>
    </p:spTree>
    <p:extLst>
      <p:ext uri="{BB962C8B-B14F-4D97-AF65-F5344CB8AC3E}">
        <p14:creationId xmlns:p14="http://schemas.microsoft.com/office/powerpoint/2010/main" val="1343145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6</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methodologies for this.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“Building the right thing” is necessarily a value judgment </a:t>
            </a:r>
          </a:p>
          <a:p>
            <a:pPr lvl="1"/>
            <a:r>
              <a:rPr lang="en-US" dirty="0"/>
              <a:t>(right for whom? who benefits?)</a:t>
            </a:r>
          </a:p>
          <a:p>
            <a:pPr marL="457200" lvl="1" indent="0">
              <a:buNone/>
            </a:pPr>
            <a:endParaRPr lang="en-US" dirty="0"/>
          </a:p>
          <a:p>
            <a:r>
              <a:rPr lang="en-US" dirty="0"/>
              <a:t>You need some way</a:t>
            </a:r>
            <a:br>
              <a:rPr lang="en-US" dirty="0"/>
            </a:br>
            <a:r>
              <a:rPr lang="en-US" dirty="0"/>
              <a:t>to think about what</a:t>
            </a:r>
            <a:br>
              <a:rPr lang="en-US" dirty="0"/>
            </a:br>
            <a:r>
              <a:rPr lang="en-US" dirty="0"/>
              <a:t>capabilities you </a:t>
            </a:r>
            <a:r>
              <a:rPr lang="en-US" i="1" dirty="0"/>
              <a:t>shouldn’t</a:t>
            </a:r>
            <a:br>
              <a:rPr lang="en-US" i="1" dirty="0"/>
            </a:br>
            <a:r>
              <a:rPr lang="en-US" dirty="0"/>
              <a:t>implement!</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9</a:t>
            </a:fld>
            <a:endParaRPr lang="en-US"/>
          </a:p>
        </p:txBody>
      </p:sp>
      <p:pic>
        <p:nvPicPr>
          <p:cNvPr id="5" name="Picture 4">
            <a:extLst>
              <a:ext uri="{FF2B5EF4-FFF2-40B4-BE49-F238E27FC236}">
                <a16:creationId xmlns:a16="http://schemas.microsoft.com/office/drawing/2014/main" id="{89C21028-56A4-513C-8705-D4F92C580C2C}"/>
              </a:ext>
            </a:extLst>
          </p:cNvPr>
          <p:cNvPicPr>
            <a:picLocks noChangeAspect="1"/>
          </p:cNvPicPr>
          <p:nvPr/>
        </p:nvPicPr>
        <p:blipFill>
          <a:blip r:embed="rId3"/>
          <a:stretch>
            <a:fillRect/>
          </a:stretch>
        </p:blipFill>
        <p:spPr>
          <a:xfrm flipH="1">
            <a:off x="5888452" y="2897287"/>
            <a:ext cx="2981169" cy="2863800"/>
          </a:xfrm>
          <a:prstGeom prst="rect">
            <a:avLst/>
          </a:prstGeom>
        </p:spPr>
      </p:pic>
      <p:sp>
        <p:nvSpPr>
          <p:cNvPr id="9" name="TextBox 8">
            <a:extLst>
              <a:ext uri="{FF2B5EF4-FFF2-40B4-BE49-F238E27FC236}">
                <a16:creationId xmlns:a16="http://schemas.microsoft.com/office/drawing/2014/main" id="{6A665661-6F17-7AE3-2BAE-1DF9337B378E}"/>
              </a:ext>
            </a:extLst>
          </p:cNvPr>
          <p:cNvSpPr txBox="1"/>
          <p:nvPr/>
        </p:nvSpPr>
        <p:spPr>
          <a:xfrm>
            <a:off x="8869621" y="2857500"/>
            <a:ext cx="2839779"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chemeClr val="tx1"/>
                </a:solidFill>
              </a:rPr>
              <a:t>Your scientists were so preoccupied with whether or not they could, they didn't stop to think if they should." </a:t>
            </a:r>
          </a:p>
          <a:p>
            <a:pPr>
              <a:buNone/>
            </a:pPr>
            <a:endParaRPr lang="en-US" b="1" dirty="0">
              <a:solidFill>
                <a:schemeClr val="tx1"/>
              </a:solidFill>
            </a:endParaRPr>
          </a:p>
          <a:p>
            <a:pPr>
              <a:buNone/>
            </a:pPr>
            <a:r>
              <a:rPr lang="en-US" b="1" dirty="0">
                <a:solidFill>
                  <a:schemeClr val="tx1"/>
                </a:solidFill>
              </a:rPr>
              <a:t>- Ian Malcom (in </a:t>
            </a:r>
            <a:r>
              <a:rPr lang="en-US" b="1" i="1" dirty="0">
                <a:solidFill>
                  <a:schemeClr val="tx1"/>
                </a:solidFill>
              </a:rPr>
              <a:t>Jurassic Park</a:t>
            </a:r>
            <a:r>
              <a:rPr lang="en-US" b="1" dirty="0">
                <a:solidFill>
                  <a:schemeClr val="tx1"/>
                </a:solidFill>
              </a:rPr>
              <a:t>, 1993) </a:t>
            </a:r>
          </a:p>
        </p:txBody>
      </p:sp>
    </p:spTree>
    <p:extLst>
      <p:ext uri="{BB962C8B-B14F-4D97-AF65-F5344CB8AC3E}">
        <p14:creationId xmlns:p14="http://schemas.microsoft.com/office/powerpoint/2010/main" val="2614843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1101357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
        <p:nvSpPr>
          <p:cNvPr id="7" name="Rectangle 6">
            <a:extLst>
              <a:ext uri="{FF2B5EF4-FFF2-40B4-BE49-F238E27FC236}">
                <a16:creationId xmlns:a16="http://schemas.microsoft.com/office/drawing/2014/main" id="{B34C18CB-D004-428A-F501-7FEE682E18D0}"/>
              </a:ext>
            </a:extLst>
          </p:cNvPr>
          <p:cNvSpPr/>
          <p:nvPr/>
        </p:nvSpPr>
        <p:spPr>
          <a:xfrm>
            <a:off x="8003005" y="6007840"/>
            <a:ext cx="2743200" cy="681622"/>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Read the tutorial!</a:t>
            </a:r>
          </a:p>
        </p:txBody>
      </p:sp>
    </p:spTree>
    <p:extLst>
      <p:ext uri="{BB962C8B-B14F-4D97-AF65-F5344CB8AC3E}">
        <p14:creationId xmlns:p14="http://schemas.microsoft.com/office/powerpoint/2010/main" val="21480815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8091218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97E42-2D9C-A270-DC24-23582F597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6F92A-99B9-8D2F-5002-B4BB3EE709F0}"/>
              </a:ext>
            </a:extLst>
          </p:cNvPr>
          <p:cNvSpPr>
            <a:spLocks noGrp="1"/>
          </p:cNvSpPr>
          <p:nvPr>
            <p:ph type="title"/>
          </p:nvPr>
        </p:nvSpPr>
        <p:spPr/>
        <p:txBody>
          <a:bodyPr/>
          <a:lstStyle/>
          <a:p>
            <a:r>
              <a:rPr lang="en-US"/>
              <a:t>Review</a:t>
            </a:r>
          </a:p>
        </p:txBody>
      </p:sp>
      <p:sp>
        <p:nvSpPr>
          <p:cNvPr id="3" name="Content Placeholder 2">
            <a:extLst>
              <a:ext uri="{FF2B5EF4-FFF2-40B4-BE49-F238E27FC236}">
                <a16:creationId xmlns:a16="http://schemas.microsoft.com/office/drawing/2014/main" id="{E0BF1DB6-9CB5-6F00-B1F7-B160A5A12BE4}"/>
              </a:ext>
            </a:extLst>
          </p:cNvPr>
          <p:cNvSpPr>
            <a:spLocks noGrp="1"/>
          </p:cNvSpPr>
          <p:nvPr>
            <p:ph idx="1"/>
          </p:nvPr>
        </p:nvSpPr>
        <p:spPr>
          <a:xfrm>
            <a:off x="838200" y="1500159"/>
            <a:ext cx="8429368" cy="5221315"/>
          </a:xfrm>
        </p:spPr>
        <p:txBody>
          <a:bodyPr>
            <a:normAutofit/>
          </a:bodyPr>
          <a:lstStyle/>
          <a:p>
            <a:pPr marL="0" indent="0">
              <a:buNone/>
            </a:pPr>
            <a:r>
              <a:rPr lang="en-US" dirty="0"/>
              <a:t>It’s the end of the lesson, so you should be prepared to:</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endParaRPr lang="en-US" dirty="0"/>
          </a:p>
        </p:txBody>
      </p:sp>
      <p:sp>
        <p:nvSpPr>
          <p:cNvPr id="4" name="Slide Number Placeholder 3">
            <a:extLst>
              <a:ext uri="{FF2B5EF4-FFF2-40B4-BE49-F238E27FC236}">
                <a16:creationId xmlns:a16="http://schemas.microsoft.com/office/drawing/2014/main" id="{152C847D-643E-50A8-0FAD-E1B0C31FA574}"/>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85270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23007</TotalTime>
  <Words>1955</Words>
  <Application>Microsoft Macintosh PowerPoint</Application>
  <PresentationFormat>Widescreen</PresentationFormat>
  <Paragraphs>174</Paragraphs>
  <Slides>13</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Arial</vt:lpstr>
      <vt:lpstr>Verdana</vt:lpstr>
      <vt:lpstr>Calibri</vt:lpstr>
      <vt:lpstr>Helvetica Neue</vt:lpstr>
      <vt:lpstr>Times New Roman</vt:lpstr>
      <vt:lpstr>Calibri Light</vt:lpstr>
      <vt:lpstr>Wingdings</vt:lpstr>
      <vt:lpstr>Office Theme</vt:lpstr>
      <vt:lpstr>CS 4530: Fundamentals of Software Engineering Module 2.1: Requirements Analysis</vt:lpstr>
      <vt:lpstr>Learning Goals for this Lesson</vt:lpstr>
      <vt:lpstr>The big picture</vt:lpstr>
      <vt:lpstr>Part 1: Requirements analysis</vt:lpstr>
      <vt:lpstr>Overall question: How to make sure we are building the right thing</vt:lpstr>
      <vt:lpstr>Why is requirements analysis hard?</vt:lpstr>
      <vt:lpstr>How do we capture the requirements?</vt:lpstr>
      <vt:lpstr>Common Elements</vt:lpstr>
      <vt:lpstr>Requirements gathering frameworks inform the structure and priority of user stories</vt:lpstr>
      <vt:lpstr>Requirements gathering frameworks inform the structure and priority of user stories</vt:lpstr>
      <vt:lpstr>VSD Example – Informed Consent</vt:lpstr>
      <vt:lpstr>Review: Requirements analysis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230</cp:revision>
  <dcterms:created xsi:type="dcterms:W3CDTF">2021-01-07T15:19:22Z</dcterms:created>
  <dcterms:modified xsi:type="dcterms:W3CDTF">2025-12-26T18:58:39Z</dcterms:modified>
</cp:coreProperties>
</file>